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activity as a designed learning experience, not just a game: objectives → practice → evidence, in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objectives aloud. They are measurable and map to Bloom's levels: Understand → Apply → Analyze → Create.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Constructive alignment: objective → activity → evidence. Group discussion is formative; individual submissions are the scored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phase has an instructional purpose. Note the chunking of the practice block to manage cognitive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Gradual release: group discussion then individual commitment. Repetition across four cases is deliberate retrieval practice.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evidence types. The proficiency ladder is the success criteria — share it up front so learners know what good looks like.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Facilitator is a guide on the side. Before/during/after moves, plus clear Do/Avoid. Protect psychological safety.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Materials &amp; setup checklist. Access placeholders (Moodle QR + Circuit Image Convertor) must be replaced with real links before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41274"/>
            <a:ext cx="31090" cy="72542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3" name="Shape 1"/>
          <p:cNvSpPr/>
          <p:nvPr/>
        </p:nvSpPr>
        <p:spPr>
          <a:xfrm>
            <a:off x="601492" y="699821"/>
            <a:ext cx="31090" cy="113995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4" name="Shape 2"/>
          <p:cNvSpPr/>
          <p:nvPr/>
        </p:nvSpPr>
        <p:spPr>
          <a:xfrm>
            <a:off x="654345" y="648005"/>
            <a:ext cx="31090" cy="165811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5" name="Shape 3"/>
          <p:cNvSpPr/>
          <p:nvPr/>
        </p:nvSpPr>
        <p:spPr>
          <a:xfrm>
            <a:off x="707197" y="585826"/>
            <a:ext cx="31090" cy="227990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6" name="Shape 4"/>
          <p:cNvSpPr/>
          <p:nvPr/>
        </p:nvSpPr>
        <p:spPr>
          <a:xfrm>
            <a:off x="760049" y="534010"/>
            <a:ext cx="31090" cy="279806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7" name="Shape 5"/>
          <p:cNvSpPr/>
          <p:nvPr/>
        </p:nvSpPr>
        <p:spPr>
          <a:xfrm>
            <a:off x="812902" y="502920"/>
            <a:ext cx="31090" cy="310896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8" name="Shape 6"/>
          <p:cNvSpPr/>
          <p:nvPr/>
        </p:nvSpPr>
        <p:spPr>
          <a:xfrm>
            <a:off x="865754" y="534010"/>
            <a:ext cx="31090" cy="279806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9" name="Shape 7"/>
          <p:cNvSpPr/>
          <p:nvPr/>
        </p:nvSpPr>
        <p:spPr>
          <a:xfrm>
            <a:off x="918606" y="585826"/>
            <a:ext cx="31090" cy="227990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10" name="Shape 8"/>
          <p:cNvSpPr/>
          <p:nvPr/>
        </p:nvSpPr>
        <p:spPr>
          <a:xfrm>
            <a:off x="971459" y="648005"/>
            <a:ext cx="31090" cy="165811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11" name="Shape 9"/>
          <p:cNvSpPr/>
          <p:nvPr/>
        </p:nvSpPr>
        <p:spPr>
          <a:xfrm>
            <a:off x="1024311" y="699821"/>
            <a:ext cx="31090" cy="113995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7163" y="741274"/>
            <a:ext cx="31090" cy="72542"/>
          </a:xfrm>
          <a:prstGeom prst="roundRect">
            <a:avLst>
              <a:gd name="adj" fmla="val 49999"/>
            </a:avLst>
          </a:prstGeom>
          <a:solidFill>
            <a:srgbClr val="00BCEB"/>
          </a:solidFill>
          <a:ln/>
        </p:spPr>
      </p:sp>
      <p:sp>
        <p:nvSpPr>
          <p:cNvPr id="13" name="Text 11"/>
          <p:cNvSpPr/>
          <p:nvPr/>
        </p:nvSpPr>
        <p:spPr>
          <a:xfrm>
            <a:off x="1217066" y="4297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678381" y="42976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88" b="1" spc="2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1188" dirty="0"/>
          </a:p>
        </p:txBody>
      </p:sp>
      <p:sp>
        <p:nvSpPr>
          <p:cNvPr id="15" name="Text 13"/>
          <p:cNvSpPr/>
          <p:nvPr/>
        </p:nvSpPr>
        <p:spPr>
          <a:xfrm>
            <a:off x="548640" y="1874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INSTRUCTIONAL DESIGN  ·  FACILITATOR GUIDE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21208" y="2194560"/>
            <a:ext cx="8961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HMF Design Clinic</a:t>
            </a:r>
            <a:endParaRPr lang="en-US" sz="44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experiential </a:t>
            </a:r>
            <a:pPr algn="l" indent="0" marL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45-minute</a:t>
            </a:r>
            <a:pPr algn="l" indent="0" marL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learning activity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548640" y="406908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Learn-by-doing: Solution Engineers diagnose a customer’s security pain points, map Cisco solutions, and produce a customer-ready topology. Built with backward design — objectives drive the practice and the evidence.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9464040" y="2286000"/>
            <a:ext cx="2148840" cy="1554480"/>
          </a:xfrm>
          <a:prstGeom prst="roundRect">
            <a:avLst>
              <a:gd name="adj" fmla="val 9412"/>
            </a:avLst>
          </a:prstGeom>
          <a:solidFill>
            <a:srgbClr val="16304C"/>
          </a:solidFill>
          <a:ln w="15875">
            <a:solidFill>
              <a:srgbClr val="0A6F9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464040" y="2350008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6600" dirty="0"/>
          </a:p>
        </p:txBody>
      </p:sp>
      <p:sp>
        <p:nvSpPr>
          <p:cNvPr id="20" name="Text 18"/>
          <p:cNvSpPr/>
          <p:nvPr/>
        </p:nvSpPr>
        <p:spPr>
          <a:xfrm>
            <a:off x="9464040" y="336499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120640"/>
            <a:ext cx="2618659" cy="310896"/>
          </a:xfrm>
          <a:prstGeom prst="roundRect">
            <a:avLst>
              <a:gd name="adj" fmla="val 50000"/>
            </a:avLst>
          </a:prstGeom>
          <a:solidFill>
            <a:srgbClr val="0F2036"/>
          </a:solidFill>
          <a:ln w="12700">
            <a:solidFill>
              <a:srgbClr val="00BC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20640"/>
            <a:ext cx="26186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/ experiential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350179" y="5120640"/>
            <a:ext cx="1830080" cy="310896"/>
          </a:xfrm>
          <a:prstGeom prst="roundRect">
            <a:avLst>
              <a:gd name="adj" fmla="val 50000"/>
            </a:avLst>
          </a:prstGeom>
          <a:solidFill>
            <a:srgbClr val="0F2036"/>
          </a:solidFill>
          <a:ln w="12700">
            <a:solidFill>
              <a:srgbClr val="00BC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50179" y="5120640"/>
            <a:ext cx="183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of 2–4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363139" y="5120640"/>
            <a:ext cx="2618659" cy="310896"/>
          </a:xfrm>
          <a:prstGeom prst="roundRect">
            <a:avLst>
              <a:gd name="adj" fmla="val 50000"/>
            </a:avLst>
          </a:prstGeom>
          <a:solidFill>
            <a:srgbClr val="0F2036"/>
          </a:solidFill>
          <a:ln w="12700">
            <a:solidFill>
              <a:srgbClr val="2FBE8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63139" y="5120640"/>
            <a:ext cx="26186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+ summative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" y="638251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Secure · Cedarline Health Group is a fictional customer.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activity, participants will be able to: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1672" cy="914400"/>
          </a:xfrm>
          <a:prstGeom prst="roundRect">
            <a:avLst>
              <a:gd name="adj" fmla="val 11000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49808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463040" y="1773936"/>
            <a:ext cx="969264" cy="384048"/>
          </a:xfrm>
          <a:prstGeom prst="roundRect">
            <a:avLst>
              <a:gd name="adj" fmla="val 21429"/>
            </a:avLst>
          </a:prstGeom>
          <a:solidFill>
            <a:srgbClr val="16304C"/>
          </a:solidFill>
          <a:ln w="15875">
            <a:solidFill>
              <a:srgbClr val="00BC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63040" y="1773936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46120" y="1636776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customer’s security pain point in each case study.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738360" y="1636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Practiced in: reading each case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569464"/>
            <a:ext cx="11091672" cy="914400"/>
          </a:xfrm>
          <a:prstGeom prst="roundRect">
            <a:avLst>
              <a:gd name="adj" fmla="val 11000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9808" y="27523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1463040" y="2834640"/>
            <a:ext cx="640080" cy="384048"/>
          </a:xfrm>
          <a:prstGeom prst="roundRect">
            <a:avLst>
              <a:gd name="adj" fmla="val 21429"/>
            </a:avLst>
          </a:prstGeom>
          <a:solidFill>
            <a:srgbClr val="16304C"/>
          </a:solidFill>
          <a:ln w="15875">
            <a:solidFill>
              <a:srgbClr val="2FBE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63040" y="283464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46120" y="269748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right Cisco product and platform to each pain point.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738360" y="269748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Practiced in: the four case studies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630168"/>
            <a:ext cx="11091672" cy="914400"/>
          </a:xfrm>
          <a:prstGeom prst="roundRect">
            <a:avLst>
              <a:gd name="adj" fmla="val 11000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9808" y="3813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0A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1463040" y="3895344"/>
            <a:ext cx="771754" cy="384048"/>
          </a:xfrm>
          <a:prstGeom prst="roundRect">
            <a:avLst>
              <a:gd name="adj" fmla="val 21429"/>
            </a:avLst>
          </a:prstGeom>
          <a:solidFill>
            <a:srgbClr val="16304C"/>
          </a:solidFill>
          <a:ln w="15875">
            <a:solidFill>
              <a:srgbClr val="F0A2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463040" y="3895344"/>
            <a:ext cx="7717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0A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46120" y="3758184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the solution addresses the concern and the value it delivers.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738360" y="375818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Practiced in: the SE response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690872"/>
            <a:ext cx="11091672" cy="914400"/>
          </a:xfrm>
          <a:prstGeom prst="roundRect">
            <a:avLst>
              <a:gd name="adj" fmla="val 11000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" y="48737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1463040" y="4956048"/>
            <a:ext cx="705917" cy="384048"/>
          </a:xfrm>
          <a:prstGeom prst="roundRect">
            <a:avLst>
              <a:gd name="adj" fmla="val 21429"/>
            </a:avLst>
          </a:prstGeom>
          <a:solidFill>
            <a:srgbClr val="16304C"/>
          </a:solidFill>
          <a:ln w="15875">
            <a:solidFill>
              <a:srgbClr val="FFC66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63040" y="4956048"/>
            <a:ext cx="7059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C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246120" y="4818888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 one customer-ready topology across all four case studies.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738360" y="4818888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Practiced in: flipchart → topology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 rise through Bloom’s levels — from understanding a problem to creating a solution — so cognitive demand builds as the session goes.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0" name="Shape 28"/>
          <p:cNvSpPr/>
          <p:nvPr/>
        </p:nvSpPr>
        <p:spPr>
          <a:xfrm>
            <a:off x="573512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1" name="Shape 29"/>
          <p:cNvSpPr/>
          <p:nvPr/>
        </p:nvSpPr>
        <p:spPr>
          <a:xfrm>
            <a:off x="59838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2" name="Shape 30"/>
          <p:cNvSpPr/>
          <p:nvPr/>
        </p:nvSpPr>
        <p:spPr>
          <a:xfrm>
            <a:off x="623255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3" name="Shape 31"/>
          <p:cNvSpPr/>
          <p:nvPr/>
        </p:nvSpPr>
        <p:spPr>
          <a:xfrm>
            <a:off x="648127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4" name="Shape 32"/>
          <p:cNvSpPr/>
          <p:nvPr/>
        </p:nvSpPr>
        <p:spPr>
          <a:xfrm>
            <a:off x="672998" y="6327648"/>
            <a:ext cx="14630" cy="14630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5" name="Shape 33"/>
          <p:cNvSpPr/>
          <p:nvPr/>
        </p:nvSpPr>
        <p:spPr>
          <a:xfrm>
            <a:off x="697870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6" name="Shape 34"/>
          <p:cNvSpPr/>
          <p:nvPr/>
        </p:nvSpPr>
        <p:spPr>
          <a:xfrm>
            <a:off x="722742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7" name="Shape 35"/>
          <p:cNvSpPr/>
          <p:nvPr/>
        </p:nvSpPr>
        <p:spPr>
          <a:xfrm>
            <a:off x="74761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485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9" name="Shape 37"/>
          <p:cNvSpPr/>
          <p:nvPr/>
        </p:nvSpPr>
        <p:spPr>
          <a:xfrm>
            <a:off x="797357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0" name="Text 38"/>
          <p:cNvSpPr/>
          <p:nvPr/>
        </p:nvSpPr>
        <p:spPr>
          <a:xfrm>
            <a:off x="863194" y="625449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139342" y="62544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8" b="1" spc="2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528" dirty="0"/>
          </a:p>
        </p:txBody>
      </p:sp>
      <p:sp>
        <p:nvSpPr>
          <p:cNvPr id="42" name="Text 40"/>
          <p:cNvSpPr/>
          <p:nvPr/>
        </p:nvSpPr>
        <p:spPr>
          <a:xfrm>
            <a:off x="7315200" y="6272784"/>
            <a:ext cx="4325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HMF Design Clinic · Instructional Guide  ·  2 / 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alignment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objective is practiced and produces evidence — nothing is taught that isn’t assessed, nothing assessed that isn’t taught.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15544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023360" y="155448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THEY PRACTICE IT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138160" y="1554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FC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OF LEARNING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16304C"/>
          </a:solidFill>
          <a:ln w="12700">
            <a:solidFill>
              <a:srgbClr val="2037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965960"/>
            <a:ext cx="2880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pain point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657600" y="1965960"/>
            <a:ext cx="274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069080" y="1965960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&amp; discuss the case as a group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0" y="1965960"/>
            <a:ext cx="274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183880" y="1965960"/>
            <a:ext cx="336499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discussion — </a:t>
            </a:r>
            <a:pPr algn="l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F0A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29718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71800"/>
            <a:ext cx="2880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product + platform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657600" y="2971800"/>
            <a:ext cx="274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069080" y="2971800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 product &amp; platform per pain point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0" y="2971800"/>
            <a:ext cx="274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183880" y="2971800"/>
            <a:ext cx="336499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answer in Moodle — </a:t>
            </a:r>
            <a:pPr algn="l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16304C"/>
          </a:solidFill>
          <a:ln w="12700">
            <a:solidFill>
              <a:srgbClr val="20374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77640"/>
            <a:ext cx="2880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Articulate SE value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3657600" y="3977640"/>
            <a:ext cx="274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069080" y="3977640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Solution Engineer response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772400" y="3977640"/>
            <a:ext cx="274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183880" y="3977640"/>
            <a:ext cx="336499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answer in Moodle — </a:t>
            </a:r>
            <a:pPr algn="l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498348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983480"/>
            <a:ext cx="2880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 a topology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657600" y="4983480"/>
            <a:ext cx="274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069080" y="4983480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one flipchart → convert to a diagram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772400" y="4983480"/>
            <a:ext cx="274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183880" y="4983480"/>
            <a:ext cx="336499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topology upload — </a:t>
            </a:r>
            <a:pPr algn="l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2" name="Shape 30"/>
          <p:cNvSpPr/>
          <p:nvPr/>
        </p:nvSpPr>
        <p:spPr>
          <a:xfrm>
            <a:off x="573512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3" name="Shape 31"/>
          <p:cNvSpPr/>
          <p:nvPr/>
        </p:nvSpPr>
        <p:spPr>
          <a:xfrm>
            <a:off x="59838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4" name="Shape 32"/>
          <p:cNvSpPr/>
          <p:nvPr/>
        </p:nvSpPr>
        <p:spPr>
          <a:xfrm>
            <a:off x="623255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5" name="Shape 33"/>
          <p:cNvSpPr/>
          <p:nvPr/>
        </p:nvSpPr>
        <p:spPr>
          <a:xfrm>
            <a:off x="648127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6" name="Shape 34"/>
          <p:cNvSpPr/>
          <p:nvPr/>
        </p:nvSpPr>
        <p:spPr>
          <a:xfrm>
            <a:off x="672998" y="6327648"/>
            <a:ext cx="14630" cy="14630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7" name="Shape 35"/>
          <p:cNvSpPr/>
          <p:nvPr/>
        </p:nvSpPr>
        <p:spPr>
          <a:xfrm>
            <a:off x="697870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8" name="Shape 36"/>
          <p:cNvSpPr/>
          <p:nvPr/>
        </p:nvSpPr>
        <p:spPr>
          <a:xfrm>
            <a:off x="722742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9" name="Shape 37"/>
          <p:cNvSpPr/>
          <p:nvPr/>
        </p:nvSpPr>
        <p:spPr>
          <a:xfrm>
            <a:off x="74761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0" name="Shape 38"/>
          <p:cNvSpPr/>
          <p:nvPr/>
        </p:nvSpPr>
        <p:spPr>
          <a:xfrm>
            <a:off x="772485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1" name="Shape 39"/>
          <p:cNvSpPr/>
          <p:nvPr/>
        </p:nvSpPr>
        <p:spPr>
          <a:xfrm>
            <a:off x="797357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2" name="Text 40"/>
          <p:cNvSpPr/>
          <p:nvPr/>
        </p:nvSpPr>
        <p:spPr>
          <a:xfrm>
            <a:off x="863194" y="625449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139342" y="62544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8" b="1" spc="2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528" dirty="0"/>
          </a:p>
        </p:txBody>
      </p:sp>
      <p:sp>
        <p:nvSpPr>
          <p:cNvPr id="44" name="Text 42"/>
          <p:cNvSpPr/>
          <p:nvPr/>
        </p:nvSpPr>
        <p:spPr>
          <a:xfrm>
            <a:off x="7315200" y="6272784"/>
            <a:ext cx="4325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HMF Design Clinic · Instructional Guide  ·  3 / 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learning arc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phases, each with an instructional purpose — 45 minutes end to end.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975104" cy="3657600"/>
          </a:xfrm>
          <a:prstGeom prst="roundRect">
            <a:avLst>
              <a:gd name="adj" fmla="val 5556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55648"/>
            <a:ext cx="973653" cy="274320"/>
          </a:xfrm>
          <a:prstGeom prst="roundRect">
            <a:avLst>
              <a:gd name="adj" fmla="val 20000"/>
            </a:avLst>
          </a:prstGeom>
          <a:solidFill>
            <a:srgbClr val="16304C"/>
          </a:solidFill>
          <a:ln w="12700">
            <a:solidFill>
              <a:srgbClr val="00BC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755648"/>
            <a:ext cx="9736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49808" y="212140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C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5 min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9808" y="242316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set up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3035808"/>
            <a:ext cx="157276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Orient, form groups, surface prior knowledge of the customer.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05456" y="1554480"/>
            <a:ext cx="30175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825496" y="1554480"/>
            <a:ext cx="1975104" cy="3657600"/>
          </a:xfrm>
          <a:prstGeom prst="roundRect">
            <a:avLst>
              <a:gd name="adj" fmla="val 5556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026664" y="1755648"/>
            <a:ext cx="973653" cy="274320"/>
          </a:xfrm>
          <a:prstGeom prst="roundRect">
            <a:avLst>
              <a:gd name="adj" fmla="val 20000"/>
            </a:avLst>
          </a:prstGeom>
          <a:solidFill>
            <a:srgbClr val="16304C"/>
          </a:solidFill>
          <a:ln w="12700">
            <a:solidFill>
              <a:srgbClr val="2FBE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26664" y="1755648"/>
            <a:ext cx="9736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026664" y="212140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C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23 min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26664" y="242316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case studies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3026664" y="3035808"/>
            <a:ext cx="157276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+ application, chunked into ~6-min cases to manage load.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82312" y="1554480"/>
            <a:ext cx="30175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5102352" y="1554480"/>
            <a:ext cx="1975104" cy="3657600"/>
          </a:xfrm>
          <a:prstGeom prst="roundRect">
            <a:avLst>
              <a:gd name="adj" fmla="val 5556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303520" y="1755648"/>
            <a:ext cx="1143914" cy="274320"/>
          </a:xfrm>
          <a:prstGeom prst="roundRect">
            <a:avLst>
              <a:gd name="adj" fmla="val 20000"/>
            </a:avLst>
          </a:prstGeom>
          <a:solidFill>
            <a:srgbClr val="16304C"/>
          </a:solidFill>
          <a:ln w="12700">
            <a:solidFill>
              <a:srgbClr val="F0A2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0" y="1755648"/>
            <a:ext cx="11439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0A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303520" y="212140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C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10 min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303520" y="242316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Flipchart story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5303520" y="3035808"/>
            <a:ext cx="157276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the four solutions into one customer narrative.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059168" y="1554480"/>
            <a:ext cx="30175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7379208" y="1554480"/>
            <a:ext cx="1975104" cy="3657600"/>
          </a:xfrm>
          <a:prstGeom prst="roundRect">
            <a:avLst>
              <a:gd name="adj" fmla="val 5556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580376" y="1755648"/>
            <a:ext cx="888522" cy="274320"/>
          </a:xfrm>
          <a:prstGeom prst="roundRect">
            <a:avLst>
              <a:gd name="adj" fmla="val 20000"/>
            </a:avLst>
          </a:prstGeom>
          <a:solidFill>
            <a:srgbClr val="16304C"/>
          </a:solidFill>
          <a:ln w="12700">
            <a:solidFill>
              <a:srgbClr val="FFC66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580376" y="1755648"/>
            <a:ext cx="888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C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580376" y="212140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C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5 min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580376" y="242316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&amp; convert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7580376" y="3035808"/>
            <a:ext cx="157276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authentic deliverable: photo → topology diagram.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336024" y="1554480"/>
            <a:ext cx="30175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9656064" y="1554480"/>
            <a:ext cx="1975104" cy="3657600"/>
          </a:xfrm>
          <a:prstGeom prst="roundRect">
            <a:avLst>
              <a:gd name="adj" fmla="val 5556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857232" y="1755648"/>
            <a:ext cx="803392" cy="274320"/>
          </a:xfrm>
          <a:prstGeom prst="roundRect">
            <a:avLst>
              <a:gd name="adj" fmla="val 20000"/>
            </a:avLst>
          </a:prstGeom>
          <a:solidFill>
            <a:srgbClr val="16304C"/>
          </a:solidFill>
          <a:ln w="12700">
            <a:solidFill>
              <a:srgbClr val="00BC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57232" y="1755648"/>
            <a:ext cx="80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857232" y="212140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C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2 min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9857232" y="242316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&amp; score</a:t>
            </a:r>
            <a:endParaRPr lang="en-US" sz="1550" dirty="0"/>
          </a:p>
        </p:txBody>
      </p:sp>
      <p:sp>
        <p:nvSpPr>
          <p:cNvPr id="37" name="Text 35"/>
          <p:cNvSpPr/>
          <p:nvPr/>
        </p:nvSpPr>
        <p:spPr>
          <a:xfrm>
            <a:off x="9857232" y="3035808"/>
            <a:ext cx="157276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captured; Moodle returns scores and feedback.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48640" y="544068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0B2A3A"/>
          </a:solidFill>
          <a:ln w="12700">
            <a:solidFill>
              <a:srgbClr val="0A6F9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22960" y="54406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Cognitive-load design:  </a:t>
            </a:r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23-minute practice block is split into four ~6-minute cases, so learners focus on one problem at a time before integrating them.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548640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1" name="Shape 39"/>
          <p:cNvSpPr/>
          <p:nvPr/>
        </p:nvSpPr>
        <p:spPr>
          <a:xfrm>
            <a:off x="573512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2" name="Shape 40"/>
          <p:cNvSpPr/>
          <p:nvPr/>
        </p:nvSpPr>
        <p:spPr>
          <a:xfrm>
            <a:off x="59838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3" name="Shape 41"/>
          <p:cNvSpPr/>
          <p:nvPr/>
        </p:nvSpPr>
        <p:spPr>
          <a:xfrm>
            <a:off x="623255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4" name="Shape 42"/>
          <p:cNvSpPr/>
          <p:nvPr/>
        </p:nvSpPr>
        <p:spPr>
          <a:xfrm>
            <a:off x="648127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5" name="Shape 43"/>
          <p:cNvSpPr/>
          <p:nvPr/>
        </p:nvSpPr>
        <p:spPr>
          <a:xfrm>
            <a:off x="672998" y="6327648"/>
            <a:ext cx="14630" cy="14630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6" name="Shape 44"/>
          <p:cNvSpPr/>
          <p:nvPr/>
        </p:nvSpPr>
        <p:spPr>
          <a:xfrm>
            <a:off x="697870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7" name="Shape 45"/>
          <p:cNvSpPr/>
          <p:nvPr/>
        </p:nvSpPr>
        <p:spPr>
          <a:xfrm>
            <a:off x="722742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8" name="Shape 46"/>
          <p:cNvSpPr/>
          <p:nvPr/>
        </p:nvSpPr>
        <p:spPr>
          <a:xfrm>
            <a:off x="74761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9" name="Shape 47"/>
          <p:cNvSpPr/>
          <p:nvPr/>
        </p:nvSpPr>
        <p:spPr>
          <a:xfrm>
            <a:off x="772485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50" name="Shape 48"/>
          <p:cNvSpPr/>
          <p:nvPr/>
        </p:nvSpPr>
        <p:spPr>
          <a:xfrm>
            <a:off x="797357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51" name="Text 49"/>
          <p:cNvSpPr/>
          <p:nvPr/>
        </p:nvSpPr>
        <p:spPr>
          <a:xfrm>
            <a:off x="863194" y="625449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1139342" y="62544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8" b="1" spc="2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528" dirty="0"/>
          </a:p>
        </p:txBody>
      </p:sp>
      <p:sp>
        <p:nvSpPr>
          <p:cNvPr id="53" name="Text 51"/>
          <p:cNvSpPr/>
          <p:nvPr/>
        </p:nvSpPr>
        <p:spPr>
          <a:xfrm>
            <a:off x="7315200" y="6272784"/>
            <a:ext cx="4325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HMF Design Clinic · Instructional Guide  ·  4 / 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practice cycle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release of responsibility — repeated for each of the four case studies.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12680" y="502920"/>
            <a:ext cx="1627632" cy="310896"/>
          </a:xfrm>
          <a:prstGeom prst="roundRect">
            <a:avLst>
              <a:gd name="adj" fmla="val 50000"/>
            </a:avLst>
          </a:prstGeom>
          <a:solidFill>
            <a:srgbClr val="0F2036"/>
          </a:solidFill>
          <a:ln w="12700">
            <a:solidFill>
              <a:srgbClr val="00BC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12680" y="50292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× 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542032" cy="2286000"/>
          </a:xfrm>
          <a:prstGeom prst="roundRect">
            <a:avLst>
              <a:gd name="adj" fmla="val 4800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68096" y="19842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231343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pain point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68096" y="313639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sense of the customer’s concern.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054096" y="1783080"/>
            <a:ext cx="32918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3419856" y="1783080"/>
            <a:ext cx="2542032" cy="2286000"/>
          </a:xfrm>
          <a:prstGeom prst="roundRect">
            <a:avLst>
              <a:gd name="adj" fmla="val 4800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39312" y="19842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39312" y="231343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product + platform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3639312" y="313639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right Cisco solution.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25312" y="1783080"/>
            <a:ext cx="32918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291072" y="1783080"/>
            <a:ext cx="2542032" cy="2286000"/>
          </a:xfrm>
          <a:prstGeom prst="roundRect">
            <a:avLst>
              <a:gd name="adj" fmla="val 4800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10528" y="19842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10528" y="231343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SE explanation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510528" y="313639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Justify how it helps and the value.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796528" y="1783080"/>
            <a:ext cx="32918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9162288" y="1783080"/>
            <a:ext cx="2542032" cy="2286000"/>
          </a:xfrm>
          <a:prstGeom prst="roundRect">
            <a:avLst>
              <a:gd name="adj" fmla="val 4800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381744" y="19842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81744" y="231343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individually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381744" y="3136392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learner records their own answer.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4480560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0B2A3A"/>
          </a:solidFill>
          <a:ln w="12700">
            <a:solidFill>
              <a:srgbClr val="0A6F9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480560"/>
            <a:ext cx="82296" cy="1097280"/>
          </a:xfrm>
          <a:prstGeom prst="roundRect">
            <a:avLst>
              <a:gd name="adj" fmla="val 33333"/>
            </a:avLst>
          </a:prstGeom>
          <a:solidFill>
            <a:srgbClr val="00BCEB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4480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→ you do.  </a:t>
            </a:r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 reasons together (formative, low-stakes); then each learner commits and submits their own answer (individual evidence). Repeating across four cases builds retrieval practice and confidence.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3512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0" name="Shape 28"/>
          <p:cNvSpPr/>
          <p:nvPr/>
        </p:nvSpPr>
        <p:spPr>
          <a:xfrm>
            <a:off x="59838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1" name="Shape 29"/>
          <p:cNvSpPr/>
          <p:nvPr/>
        </p:nvSpPr>
        <p:spPr>
          <a:xfrm>
            <a:off x="623255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2" name="Shape 30"/>
          <p:cNvSpPr/>
          <p:nvPr/>
        </p:nvSpPr>
        <p:spPr>
          <a:xfrm>
            <a:off x="648127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3" name="Shape 31"/>
          <p:cNvSpPr/>
          <p:nvPr/>
        </p:nvSpPr>
        <p:spPr>
          <a:xfrm>
            <a:off x="672998" y="6327648"/>
            <a:ext cx="14630" cy="14630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4" name="Shape 32"/>
          <p:cNvSpPr/>
          <p:nvPr/>
        </p:nvSpPr>
        <p:spPr>
          <a:xfrm>
            <a:off x="697870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5" name="Shape 33"/>
          <p:cNvSpPr/>
          <p:nvPr/>
        </p:nvSpPr>
        <p:spPr>
          <a:xfrm>
            <a:off x="722742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6" name="Shape 34"/>
          <p:cNvSpPr/>
          <p:nvPr/>
        </p:nvSpPr>
        <p:spPr>
          <a:xfrm>
            <a:off x="74761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7" name="Shape 35"/>
          <p:cNvSpPr/>
          <p:nvPr/>
        </p:nvSpPr>
        <p:spPr>
          <a:xfrm>
            <a:off x="772485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8" name="Shape 36"/>
          <p:cNvSpPr/>
          <p:nvPr/>
        </p:nvSpPr>
        <p:spPr>
          <a:xfrm>
            <a:off x="797357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9" name="Text 37"/>
          <p:cNvSpPr/>
          <p:nvPr/>
        </p:nvSpPr>
        <p:spPr>
          <a:xfrm>
            <a:off x="863194" y="625449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139342" y="62544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8" b="1" spc="2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528" dirty="0"/>
          </a:p>
        </p:txBody>
      </p:sp>
      <p:sp>
        <p:nvSpPr>
          <p:cNvPr id="41" name="Text 39"/>
          <p:cNvSpPr/>
          <p:nvPr/>
        </p:nvSpPr>
        <p:spPr>
          <a:xfrm>
            <a:off x="7315200" y="6272784"/>
            <a:ext cx="4325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HMF Design Clinic · Instructional Guide  ·  5 / 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&amp; success criteria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evidence — and what growing mastery looks like.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0F2036"/>
          </a:solidFill>
          <a:ln w="15875">
            <a:solidFill>
              <a:srgbClr val="124A5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276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answers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+ platform + the SE response for each pain point.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&amp; application   </a:t>
            </a:r>
            <a:pPr algn="l" indent="0" marL="0">
              <a:buNone/>
            </a:pPr>
            <a:r>
              <a:rPr lang="en-US" sz="11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Moodle, auto-scored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45352" y="146304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0F2036"/>
          </a:solidFill>
          <a:ln w="15875">
            <a:solidFill>
              <a:srgbClr val="1E6E4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19672" y="16276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 upload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19672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cumulative, customer-ready diagram per learner.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19672" y="24871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 &amp; authentic performance   </a:t>
            </a:r>
            <a:pPr algn="l" indent="0" marL="0">
              <a:buNone/>
            </a:pPr>
            <a:r>
              <a:rPr lang="en-US" sz="11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Moodle, auto-scored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30632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PROFICIENCY LADDER  —  what good looks like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42900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0F2036"/>
          </a:solidFill>
          <a:ln w="19050">
            <a:solidFill>
              <a:srgbClr val="3A465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" y="3685032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9FB0C6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71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417320" y="36850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Explorer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" y="427024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Foundational — spots the pain points and names plausible products.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096512" y="3429000"/>
            <a:ext cx="2011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315968" y="342900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0F2036"/>
          </a:solidFill>
          <a:ln w="19050">
            <a:solidFill>
              <a:srgbClr val="124A5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0" y="3685032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0BCEB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71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184648" y="36850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Builder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0" y="427024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— maps the right product + platform and explains the value.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863840" y="3429000"/>
            <a:ext cx="20116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8083296" y="342900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0F2036"/>
          </a:solidFill>
          <a:ln w="19050">
            <a:solidFill>
              <a:srgbClr val="6A521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39328" y="3685032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C663"/>
          </a:solidFill>
          <a:ln/>
        </p:spPr>
      </p:sp>
      <p:sp>
        <p:nvSpPr>
          <p:cNvPr id="27" name="Text 25"/>
          <p:cNvSpPr/>
          <p:nvPr/>
        </p:nvSpPr>
        <p:spPr>
          <a:xfrm>
            <a:off x="8339328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71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8951976" y="36850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C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Strategist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339328" y="427024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— articulates SE value and a coherent cumulative topology.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is formative (safe to be wrong); the individual answers and the topology are summative — auto-scored in Moodle, which returns feedback.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2" name="Shape 30"/>
          <p:cNvSpPr/>
          <p:nvPr/>
        </p:nvSpPr>
        <p:spPr>
          <a:xfrm>
            <a:off x="573512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3" name="Shape 31"/>
          <p:cNvSpPr/>
          <p:nvPr/>
        </p:nvSpPr>
        <p:spPr>
          <a:xfrm>
            <a:off x="59838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4" name="Shape 32"/>
          <p:cNvSpPr/>
          <p:nvPr/>
        </p:nvSpPr>
        <p:spPr>
          <a:xfrm>
            <a:off x="623255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5" name="Shape 33"/>
          <p:cNvSpPr/>
          <p:nvPr/>
        </p:nvSpPr>
        <p:spPr>
          <a:xfrm>
            <a:off x="648127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6" name="Shape 34"/>
          <p:cNvSpPr/>
          <p:nvPr/>
        </p:nvSpPr>
        <p:spPr>
          <a:xfrm>
            <a:off x="672998" y="6327648"/>
            <a:ext cx="14630" cy="14630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7" name="Shape 35"/>
          <p:cNvSpPr/>
          <p:nvPr/>
        </p:nvSpPr>
        <p:spPr>
          <a:xfrm>
            <a:off x="697870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8" name="Shape 36"/>
          <p:cNvSpPr/>
          <p:nvPr/>
        </p:nvSpPr>
        <p:spPr>
          <a:xfrm>
            <a:off x="722742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9" name="Shape 37"/>
          <p:cNvSpPr/>
          <p:nvPr/>
        </p:nvSpPr>
        <p:spPr>
          <a:xfrm>
            <a:off x="74761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0" name="Shape 38"/>
          <p:cNvSpPr/>
          <p:nvPr/>
        </p:nvSpPr>
        <p:spPr>
          <a:xfrm>
            <a:off x="772485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1" name="Shape 39"/>
          <p:cNvSpPr/>
          <p:nvPr/>
        </p:nvSpPr>
        <p:spPr>
          <a:xfrm>
            <a:off x="797357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42" name="Text 40"/>
          <p:cNvSpPr/>
          <p:nvPr/>
        </p:nvSpPr>
        <p:spPr>
          <a:xfrm>
            <a:off x="863194" y="625449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139342" y="62544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8" b="1" spc="2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528" dirty="0"/>
          </a:p>
        </p:txBody>
      </p:sp>
      <p:sp>
        <p:nvSpPr>
          <p:cNvPr id="44" name="Text 42"/>
          <p:cNvSpPr/>
          <p:nvPr/>
        </p:nvSpPr>
        <p:spPr>
          <a:xfrm>
            <a:off x="7315200" y="6272784"/>
            <a:ext cx="4325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HMF Design Clinic · Instructional Guide  ·  6 / 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Facilitation: guide on the side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 the thinking; don’t hand out the answers.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02152" cy="2514600"/>
          </a:xfrm>
          <a:prstGeom prst="roundRect">
            <a:avLst>
              <a:gd name="adj" fmla="val 4364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64208"/>
            <a:ext cx="3044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04672" y="2084832"/>
            <a:ext cx="30266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3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Moodle &amp; groups of 2–4.</a:t>
            </a:r>
            <a:endParaRPr lang="en-US" sz="13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3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objective + what good looks like.</a:t>
            </a:r>
            <a:endParaRPr lang="en-US" sz="13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3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45-minute clock.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463040"/>
            <a:ext cx="3502152" cy="2514600"/>
          </a:xfrm>
          <a:prstGeom prst="roundRect">
            <a:avLst>
              <a:gd name="adj" fmla="val 4364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99432" y="1664208"/>
            <a:ext cx="3044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99432" y="2084832"/>
            <a:ext cx="30266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3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Circulate; ask “why this product?”.</a:t>
            </a:r>
            <a:endParaRPr lang="en-US" sz="13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3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pace (~6 min/case); manage load.</a:t>
            </a:r>
            <a:endParaRPr lang="en-US" sz="13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3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safe; ensure everyone submits.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38160" y="1463040"/>
            <a:ext cx="3502152" cy="2514600"/>
          </a:xfrm>
          <a:prstGeom prst="roundRect">
            <a:avLst>
              <a:gd name="adj" fmla="val 4364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94192" y="1664208"/>
            <a:ext cx="3044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0A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394192" y="2084832"/>
            <a:ext cx="30266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F0A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3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all evidence is in.</a:t>
            </a:r>
            <a:endParaRPr lang="en-US" sz="13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F0A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3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 quick reflection.</a:t>
            </a:r>
            <a:endParaRPr lang="en-US" sz="13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F0A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algn="l" indent="0" marL="0">
              <a:lnSpc>
                <a:spcPct val="103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one or two exemplars.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206240"/>
            <a:ext cx="5394960" cy="1554480"/>
          </a:xfrm>
          <a:prstGeom prst="roundRect">
            <a:avLst>
              <a:gd name="adj" fmla="val 7059"/>
            </a:avLst>
          </a:prstGeom>
          <a:solidFill>
            <a:srgbClr val="0C2A20"/>
          </a:solidFill>
          <a:ln w="15875">
            <a:solidFill>
              <a:srgbClr val="1E6E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438912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04672" y="4754880"/>
            <a:ext cx="4919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probing questions.</a:t>
            </a:r>
            <a:endParaRPr lang="en-US" sz="12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Time-box each case.</a:t>
            </a:r>
            <a:endParaRPr lang="en-US" sz="12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Insist on individual submissions.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45352" y="4206240"/>
            <a:ext cx="5394960" cy="1554480"/>
          </a:xfrm>
          <a:prstGeom prst="roundRect">
            <a:avLst>
              <a:gd name="adj" fmla="val 7059"/>
            </a:avLst>
          </a:prstGeom>
          <a:solidFill>
            <a:srgbClr val="2A1414"/>
          </a:solidFill>
          <a:ln w="15875">
            <a:solidFill>
              <a:srgbClr val="6A2E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01384" y="438912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E06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01384" y="4754880"/>
            <a:ext cx="4919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06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Handing out the answers.</a:t>
            </a:r>
            <a:endParaRPr lang="en-US" sz="12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06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Letting one voice dominate.</a:t>
            </a:r>
            <a:endParaRPr lang="en-US" sz="12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06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the topology.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0" name="Shape 18"/>
          <p:cNvSpPr/>
          <p:nvPr/>
        </p:nvSpPr>
        <p:spPr>
          <a:xfrm>
            <a:off x="573512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1" name="Shape 19"/>
          <p:cNvSpPr/>
          <p:nvPr/>
        </p:nvSpPr>
        <p:spPr>
          <a:xfrm>
            <a:off x="59838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2" name="Shape 20"/>
          <p:cNvSpPr/>
          <p:nvPr/>
        </p:nvSpPr>
        <p:spPr>
          <a:xfrm>
            <a:off x="623255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3" name="Shape 21"/>
          <p:cNvSpPr/>
          <p:nvPr/>
        </p:nvSpPr>
        <p:spPr>
          <a:xfrm>
            <a:off x="648127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4" name="Shape 22"/>
          <p:cNvSpPr/>
          <p:nvPr/>
        </p:nvSpPr>
        <p:spPr>
          <a:xfrm>
            <a:off x="672998" y="6327648"/>
            <a:ext cx="14630" cy="14630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5" name="Shape 23"/>
          <p:cNvSpPr/>
          <p:nvPr/>
        </p:nvSpPr>
        <p:spPr>
          <a:xfrm>
            <a:off x="697870" y="6342278"/>
            <a:ext cx="14630" cy="131674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6" name="Shape 24"/>
          <p:cNvSpPr/>
          <p:nvPr/>
        </p:nvSpPr>
        <p:spPr>
          <a:xfrm>
            <a:off x="722742" y="6366662"/>
            <a:ext cx="14630" cy="10729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7" name="Shape 25"/>
          <p:cNvSpPr/>
          <p:nvPr/>
        </p:nvSpPr>
        <p:spPr>
          <a:xfrm>
            <a:off x="747613" y="6395923"/>
            <a:ext cx="14630" cy="78029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8" name="Shape 26"/>
          <p:cNvSpPr/>
          <p:nvPr/>
        </p:nvSpPr>
        <p:spPr>
          <a:xfrm>
            <a:off x="772485" y="6420307"/>
            <a:ext cx="14630" cy="5364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9" name="Shape 27"/>
          <p:cNvSpPr/>
          <p:nvPr/>
        </p:nvSpPr>
        <p:spPr>
          <a:xfrm>
            <a:off x="797357" y="6439814"/>
            <a:ext cx="14630" cy="34138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30" name="Text 28"/>
          <p:cNvSpPr/>
          <p:nvPr/>
        </p:nvSpPr>
        <p:spPr>
          <a:xfrm>
            <a:off x="863194" y="625449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39342" y="62544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8" b="1" spc="2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528" dirty="0"/>
          </a:p>
        </p:txBody>
      </p:sp>
      <p:sp>
        <p:nvSpPr>
          <p:cNvPr id="32" name="Text 30"/>
          <p:cNvSpPr/>
          <p:nvPr/>
        </p:nvSpPr>
        <p:spPr>
          <a:xfrm>
            <a:off x="7315200" y="6272784"/>
            <a:ext cx="4325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HMF Design Clinic · Instructional Guide  ·  7 / 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Materials, setup &amp; access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need in the room — plus where learners go.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2834640"/>
          </a:xfrm>
          <a:prstGeom prst="roundRect">
            <a:avLst>
              <a:gd name="adj" fmla="val 4516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6420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&amp; MATERIALS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2103120"/>
            <a:ext cx="49377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5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lnSpc>
                <a:spcPct val="103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arranged for groups of 2–4.</a:t>
            </a:r>
            <a:endParaRPr lang="en-US" sz="135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35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lnSpc>
                <a:spcPct val="103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per participant (for Moodle).</a:t>
            </a:r>
            <a:endParaRPr lang="en-US" sz="135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35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lnSpc>
                <a:spcPct val="103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flipchart + markers per table.</a:t>
            </a:r>
            <a:endParaRPr lang="en-US" sz="135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35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lnSpc>
                <a:spcPct val="103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 Circuit Image Convertor.</a:t>
            </a:r>
            <a:endParaRPr lang="en-US" sz="135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350" b="1" dirty="0">
                <a:solidFill>
                  <a:srgbClr val="2FB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lnSpc>
                <a:spcPct val="103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minutes; scored automatically in Moodle.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45352" y="1463040"/>
            <a:ext cx="5394960" cy="1371600"/>
          </a:xfrm>
          <a:prstGeom prst="roundRect">
            <a:avLst>
              <a:gd name="adj" fmla="val 9333"/>
            </a:avLst>
          </a:prstGeom>
          <a:solidFill>
            <a:srgbClr val="0F2036"/>
          </a:solidFill>
          <a:ln w="12700">
            <a:solidFill>
              <a:srgbClr val="20374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73952" y="1600200"/>
            <a:ext cx="109728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6528816" y="165506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0" name="Shape 8"/>
          <p:cNvSpPr/>
          <p:nvPr/>
        </p:nvSpPr>
        <p:spPr>
          <a:xfrm>
            <a:off x="6575842" y="165506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1" name="Shape 9"/>
          <p:cNvSpPr/>
          <p:nvPr/>
        </p:nvSpPr>
        <p:spPr>
          <a:xfrm>
            <a:off x="6622869" y="165506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2" name="Shape 10"/>
          <p:cNvSpPr/>
          <p:nvPr/>
        </p:nvSpPr>
        <p:spPr>
          <a:xfrm>
            <a:off x="6669895" y="165506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3" name="Shape 11"/>
          <p:cNvSpPr/>
          <p:nvPr/>
        </p:nvSpPr>
        <p:spPr>
          <a:xfrm>
            <a:off x="6716921" y="165506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4" name="Shape 12"/>
          <p:cNvSpPr/>
          <p:nvPr/>
        </p:nvSpPr>
        <p:spPr>
          <a:xfrm>
            <a:off x="6763947" y="165506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5" name="Shape 13"/>
          <p:cNvSpPr/>
          <p:nvPr/>
        </p:nvSpPr>
        <p:spPr>
          <a:xfrm>
            <a:off x="6810974" y="165506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6" name="Shape 14"/>
          <p:cNvSpPr/>
          <p:nvPr/>
        </p:nvSpPr>
        <p:spPr>
          <a:xfrm>
            <a:off x="6905026" y="165506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7" name="Shape 15"/>
          <p:cNvSpPr/>
          <p:nvPr/>
        </p:nvSpPr>
        <p:spPr>
          <a:xfrm>
            <a:off x="7093131" y="165506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8" name="Shape 16"/>
          <p:cNvSpPr/>
          <p:nvPr/>
        </p:nvSpPr>
        <p:spPr>
          <a:xfrm>
            <a:off x="7187184" y="165506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9" name="Shape 17"/>
          <p:cNvSpPr/>
          <p:nvPr/>
        </p:nvSpPr>
        <p:spPr>
          <a:xfrm>
            <a:off x="7234210" y="165506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0" name="Shape 18"/>
          <p:cNvSpPr/>
          <p:nvPr/>
        </p:nvSpPr>
        <p:spPr>
          <a:xfrm>
            <a:off x="7281237" y="165506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1" name="Shape 19"/>
          <p:cNvSpPr/>
          <p:nvPr/>
        </p:nvSpPr>
        <p:spPr>
          <a:xfrm>
            <a:off x="7328263" y="165506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2" name="Shape 20"/>
          <p:cNvSpPr/>
          <p:nvPr/>
        </p:nvSpPr>
        <p:spPr>
          <a:xfrm>
            <a:off x="7375289" y="165506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3" name="Shape 21"/>
          <p:cNvSpPr/>
          <p:nvPr/>
        </p:nvSpPr>
        <p:spPr>
          <a:xfrm>
            <a:off x="7422315" y="165506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4" name="Shape 22"/>
          <p:cNvSpPr/>
          <p:nvPr/>
        </p:nvSpPr>
        <p:spPr>
          <a:xfrm>
            <a:off x="7469342" y="165506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5" name="Shape 23"/>
          <p:cNvSpPr/>
          <p:nvPr/>
        </p:nvSpPr>
        <p:spPr>
          <a:xfrm>
            <a:off x="6528816" y="1702090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6" name="Shape 24"/>
          <p:cNvSpPr/>
          <p:nvPr/>
        </p:nvSpPr>
        <p:spPr>
          <a:xfrm>
            <a:off x="6810974" y="1702090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7" name="Shape 25"/>
          <p:cNvSpPr/>
          <p:nvPr/>
        </p:nvSpPr>
        <p:spPr>
          <a:xfrm>
            <a:off x="7046105" y="1702090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8" name="Shape 26"/>
          <p:cNvSpPr/>
          <p:nvPr/>
        </p:nvSpPr>
        <p:spPr>
          <a:xfrm>
            <a:off x="7187184" y="1702090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9" name="Shape 27"/>
          <p:cNvSpPr/>
          <p:nvPr/>
        </p:nvSpPr>
        <p:spPr>
          <a:xfrm>
            <a:off x="7469342" y="1702090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30" name="Shape 28"/>
          <p:cNvSpPr/>
          <p:nvPr/>
        </p:nvSpPr>
        <p:spPr>
          <a:xfrm>
            <a:off x="6528816" y="174911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31" name="Shape 29"/>
          <p:cNvSpPr/>
          <p:nvPr/>
        </p:nvSpPr>
        <p:spPr>
          <a:xfrm>
            <a:off x="6622869" y="174911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32" name="Shape 30"/>
          <p:cNvSpPr/>
          <p:nvPr/>
        </p:nvSpPr>
        <p:spPr>
          <a:xfrm>
            <a:off x="6669895" y="174911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33" name="Shape 31"/>
          <p:cNvSpPr/>
          <p:nvPr/>
        </p:nvSpPr>
        <p:spPr>
          <a:xfrm>
            <a:off x="6716921" y="174911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34" name="Shape 32"/>
          <p:cNvSpPr/>
          <p:nvPr/>
        </p:nvSpPr>
        <p:spPr>
          <a:xfrm>
            <a:off x="6810974" y="174911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35" name="Shape 33"/>
          <p:cNvSpPr/>
          <p:nvPr/>
        </p:nvSpPr>
        <p:spPr>
          <a:xfrm>
            <a:off x="6905026" y="174911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36" name="Shape 34"/>
          <p:cNvSpPr/>
          <p:nvPr/>
        </p:nvSpPr>
        <p:spPr>
          <a:xfrm>
            <a:off x="6952053" y="174911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37" name="Shape 35"/>
          <p:cNvSpPr/>
          <p:nvPr/>
        </p:nvSpPr>
        <p:spPr>
          <a:xfrm>
            <a:off x="7046105" y="174911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38" name="Shape 36"/>
          <p:cNvSpPr/>
          <p:nvPr/>
        </p:nvSpPr>
        <p:spPr>
          <a:xfrm>
            <a:off x="7187184" y="174911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39" name="Shape 37"/>
          <p:cNvSpPr/>
          <p:nvPr/>
        </p:nvSpPr>
        <p:spPr>
          <a:xfrm>
            <a:off x="7281237" y="174911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40" name="Shape 38"/>
          <p:cNvSpPr/>
          <p:nvPr/>
        </p:nvSpPr>
        <p:spPr>
          <a:xfrm>
            <a:off x="7328263" y="174911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41" name="Shape 39"/>
          <p:cNvSpPr/>
          <p:nvPr/>
        </p:nvSpPr>
        <p:spPr>
          <a:xfrm>
            <a:off x="7375289" y="174911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42" name="Shape 40"/>
          <p:cNvSpPr/>
          <p:nvPr/>
        </p:nvSpPr>
        <p:spPr>
          <a:xfrm>
            <a:off x="7469342" y="174911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43" name="Shape 41"/>
          <p:cNvSpPr/>
          <p:nvPr/>
        </p:nvSpPr>
        <p:spPr>
          <a:xfrm>
            <a:off x="6528816" y="179614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44" name="Shape 42"/>
          <p:cNvSpPr/>
          <p:nvPr/>
        </p:nvSpPr>
        <p:spPr>
          <a:xfrm>
            <a:off x="6622869" y="179614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45" name="Shape 43"/>
          <p:cNvSpPr/>
          <p:nvPr/>
        </p:nvSpPr>
        <p:spPr>
          <a:xfrm>
            <a:off x="6669895" y="179614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46" name="Shape 44"/>
          <p:cNvSpPr/>
          <p:nvPr/>
        </p:nvSpPr>
        <p:spPr>
          <a:xfrm>
            <a:off x="6716921" y="179614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47" name="Shape 45"/>
          <p:cNvSpPr/>
          <p:nvPr/>
        </p:nvSpPr>
        <p:spPr>
          <a:xfrm>
            <a:off x="6810974" y="179614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48" name="Shape 46"/>
          <p:cNvSpPr/>
          <p:nvPr/>
        </p:nvSpPr>
        <p:spPr>
          <a:xfrm>
            <a:off x="6952053" y="179614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49" name="Shape 47"/>
          <p:cNvSpPr/>
          <p:nvPr/>
        </p:nvSpPr>
        <p:spPr>
          <a:xfrm>
            <a:off x="6999079" y="179614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50" name="Shape 48"/>
          <p:cNvSpPr/>
          <p:nvPr/>
        </p:nvSpPr>
        <p:spPr>
          <a:xfrm>
            <a:off x="7046105" y="179614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51" name="Shape 49"/>
          <p:cNvSpPr/>
          <p:nvPr/>
        </p:nvSpPr>
        <p:spPr>
          <a:xfrm>
            <a:off x="7093131" y="179614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52" name="Shape 50"/>
          <p:cNvSpPr/>
          <p:nvPr/>
        </p:nvSpPr>
        <p:spPr>
          <a:xfrm>
            <a:off x="7187184" y="179614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53" name="Shape 51"/>
          <p:cNvSpPr/>
          <p:nvPr/>
        </p:nvSpPr>
        <p:spPr>
          <a:xfrm>
            <a:off x="7281237" y="179614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54" name="Shape 52"/>
          <p:cNvSpPr/>
          <p:nvPr/>
        </p:nvSpPr>
        <p:spPr>
          <a:xfrm>
            <a:off x="7328263" y="179614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55" name="Shape 53"/>
          <p:cNvSpPr/>
          <p:nvPr/>
        </p:nvSpPr>
        <p:spPr>
          <a:xfrm>
            <a:off x="7375289" y="179614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56" name="Shape 54"/>
          <p:cNvSpPr/>
          <p:nvPr/>
        </p:nvSpPr>
        <p:spPr>
          <a:xfrm>
            <a:off x="7469342" y="179614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57" name="Shape 55"/>
          <p:cNvSpPr/>
          <p:nvPr/>
        </p:nvSpPr>
        <p:spPr>
          <a:xfrm>
            <a:off x="6528816" y="1843169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58" name="Shape 56"/>
          <p:cNvSpPr/>
          <p:nvPr/>
        </p:nvSpPr>
        <p:spPr>
          <a:xfrm>
            <a:off x="6622869" y="1843169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59" name="Shape 57"/>
          <p:cNvSpPr/>
          <p:nvPr/>
        </p:nvSpPr>
        <p:spPr>
          <a:xfrm>
            <a:off x="6669895" y="1843169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60" name="Shape 58"/>
          <p:cNvSpPr/>
          <p:nvPr/>
        </p:nvSpPr>
        <p:spPr>
          <a:xfrm>
            <a:off x="6716921" y="1843169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61" name="Shape 59"/>
          <p:cNvSpPr/>
          <p:nvPr/>
        </p:nvSpPr>
        <p:spPr>
          <a:xfrm>
            <a:off x="6810974" y="1843169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62" name="Shape 60"/>
          <p:cNvSpPr/>
          <p:nvPr/>
        </p:nvSpPr>
        <p:spPr>
          <a:xfrm>
            <a:off x="6905026" y="1843169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63" name="Shape 61"/>
          <p:cNvSpPr/>
          <p:nvPr/>
        </p:nvSpPr>
        <p:spPr>
          <a:xfrm>
            <a:off x="6952053" y="1843169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64" name="Shape 62"/>
          <p:cNvSpPr/>
          <p:nvPr/>
        </p:nvSpPr>
        <p:spPr>
          <a:xfrm>
            <a:off x="7046105" y="1843169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65" name="Shape 63"/>
          <p:cNvSpPr/>
          <p:nvPr/>
        </p:nvSpPr>
        <p:spPr>
          <a:xfrm>
            <a:off x="7187184" y="1843169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66" name="Shape 64"/>
          <p:cNvSpPr/>
          <p:nvPr/>
        </p:nvSpPr>
        <p:spPr>
          <a:xfrm>
            <a:off x="7281237" y="1843169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67" name="Shape 65"/>
          <p:cNvSpPr/>
          <p:nvPr/>
        </p:nvSpPr>
        <p:spPr>
          <a:xfrm>
            <a:off x="7328263" y="1843169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68" name="Shape 66"/>
          <p:cNvSpPr/>
          <p:nvPr/>
        </p:nvSpPr>
        <p:spPr>
          <a:xfrm>
            <a:off x="7375289" y="1843169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69" name="Shape 67"/>
          <p:cNvSpPr/>
          <p:nvPr/>
        </p:nvSpPr>
        <p:spPr>
          <a:xfrm>
            <a:off x="7469342" y="1843169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70" name="Shape 68"/>
          <p:cNvSpPr/>
          <p:nvPr/>
        </p:nvSpPr>
        <p:spPr>
          <a:xfrm>
            <a:off x="6528816" y="1890195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71" name="Shape 69"/>
          <p:cNvSpPr/>
          <p:nvPr/>
        </p:nvSpPr>
        <p:spPr>
          <a:xfrm>
            <a:off x="6810974" y="1890195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72" name="Shape 70"/>
          <p:cNvSpPr/>
          <p:nvPr/>
        </p:nvSpPr>
        <p:spPr>
          <a:xfrm>
            <a:off x="6999079" y="1890195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73" name="Shape 71"/>
          <p:cNvSpPr/>
          <p:nvPr/>
        </p:nvSpPr>
        <p:spPr>
          <a:xfrm>
            <a:off x="7046105" y="1890195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74" name="Shape 72"/>
          <p:cNvSpPr/>
          <p:nvPr/>
        </p:nvSpPr>
        <p:spPr>
          <a:xfrm>
            <a:off x="7187184" y="1890195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75" name="Shape 73"/>
          <p:cNvSpPr/>
          <p:nvPr/>
        </p:nvSpPr>
        <p:spPr>
          <a:xfrm>
            <a:off x="7469342" y="1890195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76" name="Shape 74"/>
          <p:cNvSpPr/>
          <p:nvPr/>
        </p:nvSpPr>
        <p:spPr>
          <a:xfrm>
            <a:off x="6528816" y="193722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77" name="Shape 75"/>
          <p:cNvSpPr/>
          <p:nvPr/>
        </p:nvSpPr>
        <p:spPr>
          <a:xfrm>
            <a:off x="6575842" y="193722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78" name="Shape 76"/>
          <p:cNvSpPr/>
          <p:nvPr/>
        </p:nvSpPr>
        <p:spPr>
          <a:xfrm>
            <a:off x="6622869" y="193722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79" name="Shape 77"/>
          <p:cNvSpPr/>
          <p:nvPr/>
        </p:nvSpPr>
        <p:spPr>
          <a:xfrm>
            <a:off x="6669895" y="193722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80" name="Shape 78"/>
          <p:cNvSpPr/>
          <p:nvPr/>
        </p:nvSpPr>
        <p:spPr>
          <a:xfrm>
            <a:off x="6716921" y="193722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81" name="Shape 79"/>
          <p:cNvSpPr/>
          <p:nvPr/>
        </p:nvSpPr>
        <p:spPr>
          <a:xfrm>
            <a:off x="6763947" y="193722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82" name="Shape 80"/>
          <p:cNvSpPr/>
          <p:nvPr/>
        </p:nvSpPr>
        <p:spPr>
          <a:xfrm>
            <a:off x="6810974" y="193722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83" name="Shape 81"/>
          <p:cNvSpPr/>
          <p:nvPr/>
        </p:nvSpPr>
        <p:spPr>
          <a:xfrm>
            <a:off x="6905026" y="193722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84" name="Shape 82"/>
          <p:cNvSpPr/>
          <p:nvPr/>
        </p:nvSpPr>
        <p:spPr>
          <a:xfrm>
            <a:off x="6999079" y="193722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85" name="Shape 83"/>
          <p:cNvSpPr/>
          <p:nvPr/>
        </p:nvSpPr>
        <p:spPr>
          <a:xfrm>
            <a:off x="7093131" y="193722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86" name="Shape 84"/>
          <p:cNvSpPr/>
          <p:nvPr/>
        </p:nvSpPr>
        <p:spPr>
          <a:xfrm>
            <a:off x="7187184" y="193722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87" name="Shape 85"/>
          <p:cNvSpPr/>
          <p:nvPr/>
        </p:nvSpPr>
        <p:spPr>
          <a:xfrm>
            <a:off x="7234210" y="193722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88" name="Shape 86"/>
          <p:cNvSpPr/>
          <p:nvPr/>
        </p:nvSpPr>
        <p:spPr>
          <a:xfrm>
            <a:off x="7281237" y="193722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89" name="Shape 87"/>
          <p:cNvSpPr/>
          <p:nvPr/>
        </p:nvSpPr>
        <p:spPr>
          <a:xfrm>
            <a:off x="7328263" y="193722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90" name="Shape 88"/>
          <p:cNvSpPr/>
          <p:nvPr/>
        </p:nvSpPr>
        <p:spPr>
          <a:xfrm>
            <a:off x="7375289" y="193722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91" name="Shape 89"/>
          <p:cNvSpPr/>
          <p:nvPr/>
        </p:nvSpPr>
        <p:spPr>
          <a:xfrm>
            <a:off x="7422315" y="193722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92" name="Shape 90"/>
          <p:cNvSpPr/>
          <p:nvPr/>
        </p:nvSpPr>
        <p:spPr>
          <a:xfrm>
            <a:off x="7469342" y="193722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93" name="Shape 91"/>
          <p:cNvSpPr/>
          <p:nvPr/>
        </p:nvSpPr>
        <p:spPr>
          <a:xfrm>
            <a:off x="6905026" y="1984248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94" name="Shape 92"/>
          <p:cNvSpPr/>
          <p:nvPr/>
        </p:nvSpPr>
        <p:spPr>
          <a:xfrm>
            <a:off x="6952053" y="1984248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95" name="Shape 93"/>
          <p:cNvSpPr/>
          <p:nvPr/>
        </p:nvSpPr>
        <p:spPr>
          <a:xfrm>
            <a:off x="6528816" y="203127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96" name="Shape 94"/>
          <p:cNvSpPr/>
          <p:nvPr/>
        </p:nvSpPr>
        <p:spPr>
          <a:xfrm>
            <a:off x="6575842" y="203127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97" name="Shape 95"/>
          <p:cNvSpPr/>
          <p:nvPr/>
        </p:nvSpPr>
        <p:spPr>
          <a:xfrm>
            <a:off x="6622869" y="203127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98" name="Shape 96"/>
          <p:cNvSpPr/>
          <p:nvPr/>
        </p:nvSpPr>
        <p:spPr>
          <a:xfrm>
            <a:off x="6669895" y="203127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99" name="Shape 97"/>
          <p:cNvSpPr/>
          <p:nvPr/>
        </p:nvSpPr>
        <p:spPr>
          <a:xfrm>
            <a:off x="6763947" y="203127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00" name="Shape 98"/>
          <p:cNvSpPr/>
          <p:nvPr/>
        </p:nvSpPr>
        <p:spPr>
          <a:xfrm>
            <a:off x="6810974" y="203127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01" name="Shape 99"/>
          <p:cNvSpPr/>
          <p:nvPr/>
        </p:nvSpPr>
        <p:spPr>
          <a:xfrm>
            <a:off x="6858000" y="203127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905026" y="203127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046105" y="203127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093131" y="203127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234210" y="203127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281237" y="203127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328263" y="203127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75289" y="2031274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528816" y="2078301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669895" y="2078301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716921" y="2078301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763947" y="2078301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858000" y="2078301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05026" y="2078301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952053" y="2078301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46105" y="2078301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140158" y="2078301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87184" y="2078301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234210" y="2078301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281237" y="2078301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669895" y="212532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763947" y="212532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810974" y="212532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905026" y="212532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952053" y="212532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999079" y="212532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093131" y="212532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140158" y="212532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328263" y="212532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422315" y="212532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669895" y="217235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858000" y="217235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999079" y="217235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093131" y="217235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234210" y="217235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281237" y="217235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422315" y="217235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528816" y="2219379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575842" y="2219379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622869" y="2219379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669895" y="2219379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716921" y="2219379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810974" y="2219379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858000" y="2219379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952053" y="2219379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7046105" y="2219379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187184" y="2219379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7328263" y="2219379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952053" y="2266406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046105" y="2266406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7140158" y="2266406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7281237" y="2266406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528816" y="231343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575842" y="231343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622869" y="231343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669895" y="231343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716921" y="231343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763947" y="231343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810974" y="231343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905026" y="231343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952053" y="231343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999079" y="231343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7046105" y="231343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7093131" y="231343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7140158" y="231343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187184" y="2313432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528816" y="2360458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810974" y="2360458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905026" y="2360458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952053" y="2360458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7187184" y="2360458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469342" y="2360458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28816" y="2407485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622869" y="2407485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69895" y="2407485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716921" y="2407485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810974" y="2407485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905026" y="2407485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79" name="Shape 177"/>
          <p:cNvSpPr/>
          <p:nvPr/>
        </p:nvSpPr>
        <p:spPr>
          <a:xfrm>
            <a:off x="7046105" y="2407485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80" name="Shape 178"/>
          <p:cNvSpPr/>
          <p:nvPr/>
        </p:nvSpPr>
        <p:spPr>
          <a:xfrm>
            <a:off x="7093131" y="2407485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81" name="Shape 179"/>
          <p:cNvSpPr/>
          <p:nvPr/>
        </p:nvSpPr>
        <p:spPr>
          <a:xfrm>
            <a:off x="7140158" y="2407485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82" name="Shape 180"/>
          <p:cNvSpPr/>
          <p:nvPr/>
        </p:nvSpPr>
        <p:spPr>
          <a:xfrm>
            <a:off x="7328263" y="2407485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83" name="Shape 181"/>
          <p:cNvSpPr/>
          <p:nvPr/>
        </p:nvSpPr>
        <p:spPr>
          <a:xfrm>
            <a:off x="7469342" y="2407485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528816" y="2454511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622869" y="2454511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669895" y="2454511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716921" y="2454511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810974" y="2454511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952053" y="2454511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093131" y="2454511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140158" y="2454511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187184" y="2454511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281237" y="2454511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69342" y="2454511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528816" y="250153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622869" y="250153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669895" y="250153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716921" y="250153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810974" y="250153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999079" y="250153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046105" y="250153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093131" y="250153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140158" y="250153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234210" y="250153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281237" y="250153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422315" y="2501537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528816" y="254856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810974" y="254856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905026" y="254856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952053" y="254856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11" name="Shape 209"/>
          <p:cNvSpPr/>
          <p:nvPr/>
        </p:nvSpPr>
        <p:spPr>
          <a:xfrm>
            <a:off x="7046105" y="254856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12" name="Shape 210"/>
          <p:cNvSpPr/>
          <p:nvPr/>
        </p:nvSpPr>
        <p:spPr>
          <a:xfrm>
            <a:off x="7140158" y="254856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281237" y="254856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14" name="Shape 212"/>
          <p:cNvSpPr/>
          <p:nvPr/>
        </p:nvSpPr>
        <p:spPr>
          <a:xfrm>
            <a:off x="7375289" y="254856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15" name="Shape 213"/>
          <p:cNvSpPr/>
          <p:nvPr/>
        </p:nvSpPr>
        <p:spPr>
          <a:xfrm>
            <a:off x="7422315" y="2548563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528816" y="2595590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17" name="Shape 215"/>
          <p:cNvSpPr/>
          <p:nvPr/>
        </p:nvSpPr>
        <p:spPr>
          <a:xfrm>
            <a:off x="6575842" y="2595590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18" name="Shape 216"/>
          <p:cNvSpPr/>
          <p:nvPr/>
        </p:nvSpPr>
        <p:spPr>
          <a:xfrm>
            <a:off x="6622869" y="2595590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19" name="Shape 217"/>
          <p:cNvSpPr/>
          <p:nvPr/>
        </p:nvSpPr>
        <p:spPr>
          <a:xfrm>
            <a:off x="6669895" y="2595590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716921" y="2595590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21" name="Shape 219"/>
          <p:cNvSpPr/>
          <p:nvPr/>
        </p:nvSpPr>
        <p:spPr>
          <a:xfrm>
            <a:off x="6763947" y="2595590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810974" y="2595590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23" name="Shape 221"/>
          <p:cNvSpPr/>
          <p:nvPr/>
        </p:nvSpPr>
        <p:spPr>
          <a:xfrm>
            <a:off x="6952053" y="2595590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24" name="Shape 222"/>
          <p:cNvSpPr/>
          <p:nvPr/>
        </p:nvSpPr>
        <p:spPr>
          <a:xfrm>
            <a:off x="7140158" y="2595590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25" name="Shape 223"/>
          <p:cNvSpPr/>
          <p:nvPr/>
        </p:nvSpPr>
        <p:spPr>
          <a:xfrm>
            <a:off x="7422315" y="2595590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26" name="Shape 224"/>
          <p:cNvSpPr/>
          <p:nvPr/>
        </p:nvSpPr>
        <p:spPr>
          <a:xfrm>
            <a:off x="7469342" y="2595590"/>
            <a:ext cx="47026" cy="47026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27" name="Shape 225"/>
          <p:cNvSpPr/>
          <p:nvPr/>
        </p:nvSpPr>
        <p:spPr>
          <a:xfrm>
            <a:off x="6473952" y="2560320"/>
            <a:ext cx="672998" cy="237744"/>
          </a:xfrm>
          <a:prstGeom prst="roundRect">
            <a:avLst>
              <a:gd name="adj" fmla="val 19231"/>
            </a:avLst>
          </a:prstGeom>
          <a:solidFill>
            <a:srgbClr val="FFC663"/>
          </a:solidFill>
          <a:ln/>
        </p:spPr>
      </p:sp>
      <p:sp>
        <p:nvSpPr>
          <p:cNvPr id="228" name="Text 226"/>
          <p:cNvSpPr/>
          <p:nvPr/>
        </p:nvSpPr>
        <p:spPr>
          <a:xfrm>
            <a:off x="6473952" y="2560320"/>
            <a:ext cx="6729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201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</a:t>
            </a:r>
            <a:endParaRPr lang="en-US" sz="850" dirty="0"/>
          </a:p>
        </p:txBody>
      </p:sp>
      <p:sp>
        <p:nvSpPr>
          <p:cNvPr id="229" name="Text 227"/>
          <p:cNvSpPr/>
          <p:nvPr/>
        </p:nvSpPr>
        <p:spPr>
          <a:xfrm>
            <a:off x="7726680" y="16459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Moodle workshop</a:t>
            </a:r>
            <a:endParaRPr lang="en-US" sz="1400" dirty="0"/>
          </a:p>
        </p:txBody>
      </p:sp>
      <p:sp>
        <p:nvSpPr>
          <p:cNvPr id="230" name="Shape 228"/>
          <p:cNvSpPr/>
          <p:nvPr/>
        </p:nvSpPr>
        <p:spPr>
          <a:xfrm>
            <a:off x="7726680" y="2029968"/>
            <a:ext cx="974750" cy="237744"/>
          </a:xfrm>
          <a:prstGeom prst="roundRect">
            <a:avLst>
              <a:gd name="adj" fmla="val 19231"/>
            </a:avLst>
          </a:prstGeom>
          <a:solidFill>
            <a:srgbClr val="FFC663"/>
          </a:solidFill>
          <a:ln/>
        </p:spPr>
      </p:sp>
      <p:sp>
        <p:nvSpPr>
          <p:cNvPr id="231" name="Text 229"/>
          <p:cNvSpPr/>
          <p:nvPr/>
        </p:nvSpPr>
        <p:spPr>
          <a:xfrm>
            <a:off x="7726680" y="2029968"/>
            <a:ext cx="9747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201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</a:t>
            </a:r>
            <a:endParaRPr lang="en-US" sz="850" dirty="0"/>
          </a:p>
        </p:txBody>
      </p:sp>
      <p:sp>
        <p:nvSpPr>
          <p:cNvPr id="232" name="Text 230"/>
          <p:cNvSpPr/>
          <p:nvPr/>
        </p:nvSpPr>
        <p:spPr>
          <a:xfrm>
            <a:off x="7726680" y="239572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https://moodle.example.com/hmf-clinic</a:t>
            </a:r>
            <a:endParaRPr lang="en-US" sz="1100" dirty="0"/>
          </a:p>
        </p:txBody>
      </p:sp>
      <p:sp>
        <p:nvSpPr>
          <p:cNvPr id="233" name="Shape 231"/>
          <p:cNvSpPr/>
          <p:nvPr/>
        </p:nvSpPr>
        <p:spPr>
          <a:xfrm>
            <a:off x="6245352" y="2971800"/>
            <a:ext cx="5394960" cy="1325880"/>
          </a:xfrm>
          <a:prstGeom prst="roundRect">
            <a:avLst>
              <a:gd name="adj" fmla="val 9655"/>
            </a:avLst>
          </a:prstGeom>
          <a:solidFill>
            <a:srgbClr val="241B0C"/>
          </a:solidFill>
          <a:ln w="15875">
            <a:solidFill>
              <a:srgbClr val="7A5410"/>
            </a:solidFill>
            <a:prstDash val="dash"/>
          </a:ln>
          <a:effectLst>
            <a:outerShdw sx="100000" sy="100000" kx="0" ky="0" algn="bl" rotWithShape="0" blurRad="114300" dist="38100" dir="5400000">
              <a:srgbClr val="000000">
                <a:alpha val="38000"/>
              </a:srgbClr>
            </a:outerShdw>
          </a:effectLst>
        </p:spPr>
      </p:sp>
      <p:sp>
        <p:nvSpPr>
          <p:cNvPr id="234" name="Text 232"/>
          <p:cNvSpPr/>
          <p:nvPr/>
        </p:nvSpPr>
        <p:spPr>
          <a:xfrm>
            <a:off x="6519672" y="3154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Image Convertor</a:t>
            </a:r>
            <a:endParaRPr lang="en-US" sz="1500" dirty="0"/>
          </a:p>
        </p:txBody>
      </p:sp>
      <p:sp>
        <p:nvSpPr>
          <p:cNvPr id="235" name="Shape 233"/>
          <p:cNvSpPr/>
          <p:nvPr/>
        </p:nvSpPr>
        <p:spPr>
          <a:xfrm>
            <a:off x="9418320" y="3200400"/>
            <a:ext cx="974750" cy="237744"/>
          </a:xfrm>
          <a:prstGeom prst="roundRect">
            <a:avLst>
              <a:gd name="adj" fmla="val 19231"/>
            </a:avLst>
          </a:prstGeom>
          <a:solidFill>
            <a:srgbClr val="FFC663"/>
          </a:solidFill>
          <a:ln/>
        </p:spPr>
      </p:sp>
      <p:sp>
        <p:nvSpPr>
          <p:cNvPr id="236" name="Text 234"/>
          <p:cNvSpPr/>
          <p:nvPr/>
        </p:nvSpPr>
        <p:spPr>
          <a:xfrm>
            <a:off x="9418320" y="3200400"/>
            <a:ext cx="9747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201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</a:t>
            </a:r>
            <a:endParaRPr lang="en-US" sz="850" dirty="0"/>
          </a:p>
        </p:txBody>
      </p:sp>
      <p:sp>
        <p:nvSpPr>
          <p:cNvPr id="237" name="Text 235"/>
          <p:cNvSpPr/>
          <p:nvPr/>
        </p:nvSpPr>
        <p:spPr>
          <a:xfrm>
            <a:off x="6519672" y="35661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9C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https://circuit-convertor.example.com
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of the flipchart → topology diagram</a:t>
            </a:r>
            <a:endParaRPr lang="en-US" sz="1150" dirty="0"/>
          </a:p>
        </p:txBody>
      </p:sp>
      <p:sp>
        <p:nvSpPr>
          <p:cNvPr id="238" name="Text 236"/>
          <p:cNvSpPr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49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Secure · HMF Design Clinic — instructional facilitator guide. Cedarline Health Group is a fictional customer. The QR code and tool links are placeholders — replace before the session.</a:t>
            </a:r>
            <a:endParaRPr lang="en-US" sz="1100" dirty="0"/>
          </a:p>
        </p:txBody>
      </p:sp>
      <p:sp>
        <p:nvSpPr>
          <p:cNvPr id="239" name="Shape 237"/>
          <p:cNvSpPr/>
          <p:nvPr/>
        </p:nvSpPr>
        <p:spPr>
          <a:xfrm>
            <a:off x="548640" y="6069787"/>
            <a:ext cx="16459" cy="3840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40" name="Shape 238"/>
          <p:cNvSpPr/>
          <p:nvPr/>
        </p:nvSpPr>
        <p:spPr>
          <a:xfrm>
            <a:off x="576621" y="6047842"/>
            <a:ext cx="16459" cy="6035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04601" y="6020410"/>
            <a:ext cx="16459" cy="87782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42" name="Shape 240"/>
          <p:cNvSpPr/>
          <p:nvPr/>
        </p:nvSpPr>
        <p:spPr>
          <a:xfrm>
            <a:off x="632582" y="5987491"/>
            <a:ext cx="16459" cy="120701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43" name="Shape 241"/>
          <p:cNvSpPr/>
          <p:nvPr/>
        </p:nvSpPr>
        <p:spPr>
          <a:xfrm>
            <a:off x="660563" y="5960059"/>
            <a:ext cx="16459" cy="148133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44" name="Shape 242"/>
          <p:cNvSpPr/>
          <p:nvPr/>
        </p:nvSpPr>
        <p:spPr>
          <a:xfrm>
            <a:off x="688543" y="5943600"/>
            <a:ext cx="16459" cy="164592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45" name="Shape 243"/>
          <p:cNvSpPr/>
          <p:nvPr/>
        </p:nvSpPr>
        <p:spPr>
          <a:xfrm>
            <a:off x="716524" y="5960059"/>
            <a:ext cx="16459" cy="148133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46" name="Shape 244"/>
          <p:cNvSpPr/>
          <p:nvPr/>
        </p:nvSpPr>
        <p:spPr>
          <a:xfrm>
            <a:off x="744504" y="5987491"/>
            <a:ext cx="16459" cy="120701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47" name="Shape 245"/>
          <p:cNvSpPr/>
          <p:nvPr/>
        </p:nvSpPr>
        <p:spPr>
          <a:xfrm>
            <a:off x="772485" y="6020410"/>
            <a:ext cx="16459" cy="87782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48" name="Shape 246"/>
          <p:cNvSpPr/>
          <p:nvPr/>
        </p:nvSpPr>
        <p:spPr>
          <a:xfrm>
            <a:off x="800466" y="6047842"/>
            <a:ext cx="16459" cy="60350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49" name="Shape 247"/>
          <p:cNvSpPr/>
          <p:nvPr/>
        </p:nvSpPr>
        <p:spPr>
          <a:xfrm>
            <a:off x="828446" y="6069787"/>
            <a:ext cx="16459" cy="38405"/>
          </a:xfrm>
          <a:prstGeom prst="roundRect">
            <a:avLst>
              <a:gd name="adj" fmla="val 50001"/>
            </a:avLst>
          </a:prstGeom>
          <a:solidFill>
            <a:srgbClr val="00BCEB"/>
          </a:solidFill>
          <a:ln/>
        </p:spPr>
      </p:sp>
      <p:sp>
        <p:nvSpPr>
          <p:cNvPr id="250" name="Text 248"/>
          <p:cNvSpPr/>
          <p:nvPr/>
        </p:nvSpPr>
        <p:spPr>
          <a:xfrm>
            <a:off x="902513" y="587044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EF4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</a:t>
            </a:r>
            <a:endParaRPr lang="en-US" sz="1300" dirty="0"/>
          </a:p>
        </p:txBody>
      </p:sp>
      <p:sp>
        <p:nvSpPr>
          <p:cNvPr id="251" name="Text 249"/>
          <p:cNvSpPr/>
          <p:nvPr/>
        </p:nvSpPr>
        <p:spPr>
          <a:xfrm>
            <a:off x="1191006" y="587044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2" b="1" spc="200" kern="0" dirty="0">
                <a:solidFill>
                  <a:srgbClr val="00B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572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Cisco Secure — HMF Design Clinic (Instructional Guide)</dc:creator>
  <cp:lastModifiedBy>Cisco Secure — HMF Design Clinic (Instructional Guide)</cp:lastModifiedBy>
  <cp:revision>1</cp:revision>
  <dcterms:created xsi:type="dcterms:W3CDTF">2026-08-19T15:07:49Z</dcterms:created>
  <dcterms:modified xsi:type="dcterms:W3CDTF">2026-08-19T15:07:49Z</dcterms:modified>
</cp:coreProperties>
</file>