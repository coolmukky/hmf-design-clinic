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activity as a designed learning experience, not just a game: objectives → practice → evidence, in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objectives aloud. They are measurable and map to Bloom's levels: Understand → Apply → Analyze → Create.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Constructive alignment: objective → activity → evidence. Group discussion is formative; individual submissions are the scored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phase has an instructional purpose. Note the chunking of the practice block to manage cognitive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Gradual release: group discussion then individual commitment. Repetition across four cases is deliberate retrieval practice.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evidence types. The proficiency ladder is the success criteria — share it up front so learners know what good looks like.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Facilitator is a guide on the side. Before/during/after moves, plus clear Do/Avoid. Protect psychological safety.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Materials &amp; setup. The Moodle workshop link is live: https://workshops.cisco.com/workshops/mod/hvp/view.php?id=9188 . The Circuit Image Convertor link is still a placeholder — replace before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95554"/>
            <a:ext cx="31090" cy="72542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3" name="Shape 1"/>
          <p:cNvSpPr/>
          <p:nvPr/>
        </p:nvSpPr>
        <p:spPr>
          <a:xfrm>
            <a:off x="601492" y="654101"/>
            <a:ext cx="31090" cy="113995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4" name="Shape 2"/>
          <p:cNvSpPr/>
          <p:nvPr/>
        </p:nvSpPr>
        <p:spPr>
          <a:xfrm>
            <a:off x="654345" y="602285"/>
            <a:ext cx="31090" cy="165811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5" name="Shape 3"/>
          <p:cNvSpPr/>
          <p:nvPr/>
        </p:nvSpPr>
        <p:spPr>
          <a:xfrm>
            <a:off x="707197" y="540106"/>
            <a:ext cx="31090" cy="227990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6" name="Shape 4"/>
          <p:cNvSpPr/>
          <p:nvPr/>
        </p:nvSpPr>
        <p:spPr>
          <a:xfrm>
            <a:off x="760049" y="488290"/>
            <a:ext cx="31090" cy="279806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7" name="Shape 5"/>
          <p:cNvSpPr/>
          <p:nvPr/>
        </p:nvSpPr>
        <p:spPr>
          <a:xfrm>
            <a:off x="812902" y="457200"/>
            <a:ext cx="31090" cy="310896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8" name="Shape 6"/>
          <p:cNvSpPr/>
          <p:nvPr/>
        </p:nvSpPr>
        <p:spPr>
          <a:xfrm>
            <a:off x="865754" y="488290"/>
            <a:ext cx="31090" cy="279806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9" name="Shape 7"/>
          <p:cNvSpPr/>
          <p:nvPr/>
        </p:nvSpPr>
        <p:spPr>
          <a:xfrm>
            <a:off x="918606" y="540106"/>
            <a:ext cx="31090" cy="227990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10" name="Shape 8"/>
          <p:cNvSpPr/>
          <p:nvPr/>
        </p:nvSpPr>
        <p:spPr>
          <a:xfrm>
            <a:off x="971459" y="602285"/>
            <a:ext cx="31090" cy="165811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11" name="Shape 9"/>
          <p:cNvSpPr/>
          <p:nvPr/>
        </p:nvSpPr>
        <p:spPr>
          <a:xfrm>
            <a:off x="1024311" y="654101"/>
            <a:ext cx="31090" cy="113995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7163" y="695554"/>
            <a:ext cx="31090" cy="72542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5720" y="3840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133295" y="40233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92" b="1" spc="15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1092" dirty="0"/>
          </a:p>
        </p:txBody>
      </p:sp>
      <p:sp>
        <p:nvSpPr>
          <p:cNvPr id="15" name="Text 13"/>
          <p:cNvSpPr/>
          <p:nvPr/>
        </p:nvSpPr>
        <p:spPr>
          <a:xfrm>
            <a:off x="548640" y="1828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INSTRUCTIONAL DESIGN  ·  FACILITATOR GUIDE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1208" y="224028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HMF Design Clinic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548640" y="315468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experiential  </a:t>
            </a:r>
            <a:pPr algn="l" indent="0" marL="0">
              <a:buNone/>
            </a:pPr>
            <a:r>
              <a:rPr lang="en-US" sz="24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45-minute</a:t>
            </a:r>
            <a:pPr algn="l" indent="0" marL="0">
              <a:buNone/>
            </a:pPr>
            <a:r>
              <a:rPr lang="en-US" sz="24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learning activity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48640" y="38862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Learn-by-doing: Solution Engineers diagnose a customer’s security pain points, map Cisco solutions, and produce a customer-ready topology. Built with backward design — objectives drive the practice and the evidence.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9464040" y="2286000"/>
            <a:ext cx="2148840" cy="1554480"/>
          </a:xfrm>
          <a:prstGeom prst="roundRect">
            <a:avLst>
              <a:gd name="adj" fmla="val 9412"/>
            </a:avLst>
          </a:prstGeom>
          <a:solidFill>
            <a:srgbClr val="16304C"/>
          </a:solidFill>
          <a:ln w="15875">
            <a:solidFill>
              <a:srgbClr val="0A6F9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64040" y="2350008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6600" dirty="0"/>
          </a:p>
        </p:txBody>
      </p:sp>
      <p:sp>
        <p:nvSpPr>
          <p:cNvPr id="21" name="Text 19"/>
          <p:cNvSpPr/>
          <p:nvPr/>
        </p:nvSpPr>
        <p:spPr>
          <a:xfrm>
            <a:off x="9464040" y="336499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257800"/>
            <a:ext cx="2664379" cy="310896"/>
          </a:xfrm>
          <a:prstGeom prst="roundRect">
            <a:avLst>
              <a:gd name="adj" fmla="val 50000"/>
            </a:avLst>
          </a:prstGeom>
          <a:solidFill>
            <a:srgbClr val="0F2036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257800"/>
            <a:ext cx="26643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/ experiential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95899" y="5257800"/>
            <a:ext cx="1875800" cy="310896"/>
          </a:xfrm>
          <a:prstGeom prst="roundRect">
            <a:avLst>
              <a:gd name="adj" fmla="val 50000"/>
            </a:avLst>
          </a:prstGeom>
          <a:solidFill>
            <a:srgbClr val="0F2036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95899" y="5257800"/>
            <a:ext cx="187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of 2–4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54579" y="5257800"/>
            <a:ext cx="2664379" cy="310896"/>
          </a:xfrm>
          <a:prstGeom prst="roundRect">
            <a:avLst>
              <a:gd name="adj" fmla="val 50000"/>
            </a:avLst>
          </a:prstGeom>
          <a:solidFill>
            <a:srgbClr val="0F2036"/>
          </a:solidFill>
          <a:ln w="12700">
            <a:solidFill>
              <a:srgbClr val="2FBE8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54579" y="5257800"/>
            <a:ext cx="26643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+ summative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638251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Secure · Cedarline Health Group is a fictional customer.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activity, participants will be able to: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1672" cy="914400"/>
          </a:xfrm>
          <a:prstGeom prst="roundRect">
            <a:avLst>
              <a:gd name="adj" fmla="val 11000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9808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463040" y="1773936"/>
            <a:ext cx="1389888" cy="402336"/>
          </a:xfrm>
          <a:prstGeom prst="roundRect">
            <a:avLst>
              <a:gd name="adj" fmla="val 20455"/>
            </a:avLst>
          </a:prstGeom>
          <a:solidFill>
            <a:srgbClr val="16304C"/>
          </a:solidFill>
          <a:ln w="15875">
            <a:solidFill>
              <a:srgbClr val="00BC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63040" y="1773936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46120" y="1636776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customer’s security pain point in each case study.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738360" y="1636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Practiced in: reading each case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569464"/>
            <a:ext cx="11091672" cy="914400"/>
          </a:xfrm>
          <a:prstGeom prst="roundRect">
            <a:avLst>
              <a:gd name="adj" fmla="val 11000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9808" y="27523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1463040" y="2834640"/>
            <a:ext cx="886968" cy="402336"/>
          </a:xfrm>
          <a:prstGeom prst="roundRect">
            <a:avLst>
              <a:gd name="adj" fmla="val 20455"/>
            </a:avLst>
          </a:prstGeom>
          <a:solidFill>
            <a:srgbClr val="16304C"/>
          </a:solidFill>
          <a:ln w="15875">
            <a:solidFill>
              <a:srgbClr val="2FBE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63040" y="2834640"/>
            <a:ext cx="886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46120" y="269748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right Cisco product and platform to each pain point.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738360" y="269748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Practiced in: the four case studies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630168"/>
            <a:ext cx="11091672" cy="914400"/>
          </a:xfrm>
          <a:prstGeom prst="roundRect">
            <a:avLst>
              <a:gd name="adj" fmla="val 11000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9808" y="3813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0A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1463040" y="3895344"/>
            <a:ext cx="1088136" cy="402336"/>
          </a:xfrm>
          <a:prstGeom prst="roundRect">
            <a:avLst>
              <a:gd name="adj" fmla="val 20455"/>
            </a:avLst>
          </a:prstGeom>
          <a:solidFill>
            <a:srgbClr val="16304C"/>
          </a:solidFill>
          <a:ln w="15875">
            <a:solidFill>
              <a:srgbClr val="F0A2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63040" y="3895344"/>
            <a:ext cx="1088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F0A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46120" y="3758184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the solution addresses the concern and the value it delivers.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738360" y="375818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Practiced in: the SE response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690872"/>
            <a:ext cx="11091672" cy="914400"/>
          </a:xfrm>
          <a:prstGeom prst="roundRect">
            <a:avLst>
              <a:gd name="adj" fmla="val 11000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873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1463040" y="4956048"/>
            <a:ext cx="987552" cy="402336"/>
          </a:xfrm>
          <a:prstGeom prst="roundRect">
            <a:avLst>
              <a:gd name="adj" fmla="val 20455"/>
            </a:avLst>
          </a:prstGeom>
          <a:solidFill>
            <a:srgbClr val="16304C"/>
          </a:solidFill>
          <a:ln w="15875">
            <a:solidFill>
              <a:srgbClr val="FFC66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63040" y="4956048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FFC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246120" y="4818888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 one customer-ready topology across all four case studies.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738360" y="4818888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Practiced in: flipchart → topology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rise through Bloom’s levels — from understanding a problem to creating a solution — so cognitive demand builds as the session goes.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0" name="Shape 28"/>
          <p:cNvSpPr/>
          <p:nvPr/>
        </p:nvSpPr>
        <p:spPr>
          <a:xfrm>
            <a:off x="573512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1" name="Shape 29"/>
          <p:cNvSpPr/>
          <p:nvPr/>
        </p:nvSpPr>
        <p:spPr>
          <a:xfrm>
            <a:off x="59838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2" name="Shape 30"/>
          <p:cNvSpPr/>
          <p:nvPr/>
        </p:nvSpPr>
        <p:spPr>
          <a:xfrm>
            <a:off x="623255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3" name="Shape 31"/>
          <p:cNvSpPr/>
          <p:nvPr/>
        </p:nvSpPr>
        <p:spPr>
          <a:xfrm>
            <a:off x="648127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4" name="Shape 32"/>
          <p:cNvSpPr/>
          <p:nvPr/>
        </p:nvSpPr>
        <p:spPr>
          <a:xfrm>
            <a:off x="672998" y="6327648"/>
            <a:ext cx="14630" cy="14630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5" name="Shape 33"/>
          <p:cNvSpPr/>
          <p:nvPr/>
        </p:nvSpPr>
        <p:spPr>
          <a:xfrm>
            <a:off x="697870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6" name="Shape 34"/>
          <p:cNvSpPr/>
          <p:nvPr/>
        </p:nvSpPr>
        <p:spPr>
          <a:xfrm>
            <a:off x="722742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7" name="Shape 35"/>
          <p:cNvSpPr/>
          <p:nvPr/>
        </p:nvSpPr>
        <p:spPr>
          <a:xfrm>
            <a:off x="74761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485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9" name="Shape 37"/>
          <p:cNvSpPr/>
          <p:nvPr/>
        </p:nvSpPr>
        <p:spPr>
          <a:xfrm>
            <a:off x="797357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0" name="Text 38"/>
          <p:cNvSpPr/>
          <p:nvPr/>
        </p:nvSpPr>
        <p:spPr>
          <a:xfrm>
            <a:off x="871972" y="62544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365016" y="62727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4" b="1" spc="15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504" dirty="0"/>
          </a:p>
        </p:txBody>
      </p:sp>
      <p:sp>
        <p:nvSpPr>
          <p:cNvPr id="42" name="Text 40"/>
          <p:cNvSpPr/>
          <p:nvPr/>
        </p:nvSpPr>
        <p:spPr>
          <a:xfrm>
            <a:off x="7315200" y="6272784"/>
            <a:ext cx="4325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HMF Design Clinic · Instructional Guide  ·  2 /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alignment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objective is practiced and produces evidence — nothing is taught that isn’t assessed, nothing assessed that isn’t taught.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15544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023360" y="155448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THEY PRACTICE IT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138160" y="1554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FC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OF LEARNING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16304C"/>
          </a:solidFill>
          <a:ln w="12700">
            <a:solidFill>
              <a:srgbClr val="2037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965960"/>
            <a:ext cx="2880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pain point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657600" y="1965960"/>
            <a:ext cx="274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069080" y="1965960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&amp; discuss the case as a group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0" y="1965960"/>
            <a:ext cx="274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183880" y="1965960"/>
            <a:ext cx="336499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discussion — </a:t>
            </a:r>
            <a:pPr algn="l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F0A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9718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71800"/>
            <a:ext cx="2880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product + platform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657600" y="2971800"/>
            <a:ext cx="274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069080" y="2971800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 product &amp; platform per pain point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0" y="2971800"/>
            <a:ext cx="274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183880" y="2971800"/>
            <a:ext cx="336499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answer in Moodle — </a:t>
            </a:r>
            <a:pPr algn="l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16304C"/>
          </a:solidFill>
          <a:ln w="12700">
            <a:solidFill>
              <a:srgbClr val="20374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77640"/>
            <a:ext cx="2880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Articulate SE value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657600" y="3977640"/>
            <a:ext cx="274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069080" y="3977640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Solution Engineer response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772400" y="3977640"/>
            <a:ext cx="274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183880" y="3977640"/>
            <a:ext cx="336499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answer in Moodle — </a:t>
            </a:r>
            <a:pPr algn="l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98348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983480"/>
            <a:ext cx="2880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 a topology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657600" y="4983480"/>
            <a:ext cx="274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069080" y="4983480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one flipchart → convert to a diagram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772400" y="4983480"/>
            <a:ext cx="274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183880" y="4983480"/>
            <a:ext cx="336499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topology upload — </a:t>
            </a:r>
            <a:pPr algn="l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2" name="Shape 30"/>
          <p:cNvSpPr/>
          <p:nvPr/>
        </p:nvSpPr>
        <p:spPr>
          <a:xfrm>
            <a:off x="573512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3" name="Shape 31"/>
          <p:cNvSpPr/>
          <p:nvPr/>
        </p:nvSpPr>
        <p:spPr>
          <a:xfrm>
            <a:off x="59838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4" name="Shape 32"/>
          <p:cNvSpPr/>
          <p:nvPr/>
        </p:nvSpPr>
        <p:spPr>
          <a:xfrm>
            <a:off x="623255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5" name="Shape 33"/>
          <p:cNvSpPr/>
          <p:nvPr/>
        </p:nvSpPr>
        <p:spPr>
          <a:xfrm>
            <a:off x="648127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6" name="Shape 34"/>
          <p:cNvSpPr/>
          <p:nvPr/>
        </p:nvSpPr>
        <p:spPr>
          <a:xfrm>
            <a:off x="672998" y="6327648"/>
            <a:ext cx="14630" cy="14630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7" name="Shape 35"/>
          <p:cNvSpPr/>
          <p:nvPr/>
        </p:nvSpPr>
        <p:spPr>
          <a:xfrm>
            <a:off x="697870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8" name="Shape 36"/>
          <p:cNvSpPr/>
          <p:nvPr/>
        </p:nvSpPr>
        <p:spPr>
          <a:xfrm>
            <a:off x="722742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9" name="Shape 37"/>
          <p:cNvSpPr/>
          <p:nvPr/>
        </p:nvSpPr>
        <p:spPr>
          <a:xfrm>
            <a:off x="74761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0" name="Shape 38"/>
          <p:cNvSpPr/>
          <p:nvPr/>
        </p:nvSpPr>
        <p:spPr>
          <a:xfrm>
            <a:off x="772485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1" name="Shape 39"/>
          <p:cNvSpPr/>
          <p:nvPr/>
        </p:nvSpPr>
        <p:spPr>
          <a:xfrm>
            <a:off x="797357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2" name="Text 40"/>
          <p:cNvSpPr/>
          <p:nvPr/>
        </p:nvSpPr>
        <p:spPr>
          <a:xfrm>
            <a:off x="871972" y="62544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365016" y="62727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4" b="1" spc="15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504" dirty="0"/>
          </a:p>
        </p:txBody>
      </p:sp>
      <p:sp>
        <p:nvSpPr>
          <p:cNvPr id="44" name="Text 42"/>
          <p:cNvSpPr/>
          <p:nvPr/>
        </p:nvSpPr>
        <p:spPr>
          <a:xfrm>
            <a:off x="7315200" y="6272784"/>
            <a:ext cx="4325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HMF Design Clinic · Instructional Guide  ·  3 / 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learning arc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phases, each with an instructional purpose — 45 minutes end to end.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975104" cy="3154680"/>
          </a:xfrm>
          <a:prstGeom prst="roundRect">
            <a:avLst>
              <a:gd name="adj" fmla="val 5556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09928"/>
            <a:ext cx="973653" cy="274320"/>
          </a:xfrm>
          <a:prstGeom prst="roundRect">
            <a:avLst>
              <a:gd name="adj" fmla="val 20000"/>
            </a:avLst>
          </a:prstGeom>
          <a:solidFill>
            <a:srgbClr val="16304C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709928"/>
            <a:ext cx="9736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49808" y="207568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C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5 min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9808" y="237744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set up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990088"/>
            <a:ext cx="15727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Orient, form groups, surface prior knowledge of the customer.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05456" y="1508760"/>
            <a:ext cx="30175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825496" y="1508760"/>
            <a:ext cx="1975104" cy="3154680"/>
          </a:xfrm>
          <a:prstGeom prst="roundRect">
            <a:avLst>
              <a:gd name="adj" fmla="val 5556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026664" y="1709928"/>
            <a:ext cx="973653" cy="274320"/>
          </a:xfrm>
          <a:prstGeom prst="roundRect">
            <a:avLst>
              <a:gd name="adj" fmla="val 20000"/>
            </a:avLst>
          </a:prstGeom>
          <a:solidFill>
            <a:srgbClr val="16304C"/>
          </a:solidFill>
          <a:ln w="12700">
            <a:solidFill>
              <a:srgbClr val="2FBE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26664" y="1709928"/>
            <a:ext cx="9736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026664" y="207568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C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23 min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26664" y="237744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case studies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026664" y="2990088"/>
            <a:ext cx="15727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+ application, chunked into ~6-min cases to manage load.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82312" y="1508760"/>
            <a:ext cx="30175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102352" y="1508760"/>
            <a:ext cx="1975104" cy="3154680"/>
          </a:xfrm>
          <a:prstGeom prst="roundRect">
            <a:avLst>
              <a:gd name="adj" fmla="val 5556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303520" y="1709928"/>
            <a:ext cx="1143914" cy="274320"/>
          </a:xfrm>
          <a:prstGeom prst="roundRect">
            <a:avLst>
              <a:gd name="adj" fmla="val 20000"/>
            </a:avLst>
          </a:prstGeom>
          <a:solidFill>
            <a:srgbClr val="16304C"/>
          </a:solidFill>
          <a:ln w="12700">
            <a:solidFill>
              <a:srgbClr val="F0A2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0" y="1709928"/>
            <a:ext cx="11439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0A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303520" y="207568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C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10 min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303520" y="237744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Flipchart story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303520" y="2990088"/>
            <a:ext cx="15727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the four solutions into one customer narrative.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059168" y="1508760"/>
            <a:ext cx="30175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7379208" y="1508760"/>
            <a:ext cx="1975104" cy="3154680"/>
          </a:xfrm>
          <a:prstGeom prst="roundRect">
            <a:avLst>
              <a:gd name="adj" fmla="val 5556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580376" y="1709928"/>
            <a:ext cx="888522" cy="274320"/>
          </a:xfrm>
          <a:prstGeom prst="roundRect">
            <a:avLst>
              <a:gd name="adj" fmla="val 20000"/>
            </a:avLst>
          </a:prstGeom>
          <a:solidFill>
            <a:srgbClr val="16304C"/>
          </a:solidFill>
          <a:ln w="12700">
            <a:solidFill>
              <a:srgbClr val="FFC66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580376" y="1709928"/>
            <a:ext cx="888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C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580376" y="207568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C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5 min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580376" y="237744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&amp; convert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580376" y="2990088"/>
            <a:ext cx="15727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authentic deliverable: photo → topology diagram.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336024" y="1508760"/>
            <a:ext cx="30175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656064" y="1508760"/>
            <a:ext cx="1975104" cy="3154680"/>
          </a:xfrm>
          <a:prstGeom prst="roundRect">
            <a:avLst>
              <a:gd name="adj" fmla="val 5556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857232" y="1709928"/>
            <a:ext cx="803392" cy="274320"/>
          </a:xfrm>
          <a:prstGeom prst="roundRect">
            <a:avLst>
              <a:gd name="adj" fmla="val 20000"/>
            </a:avLst>
          </a:prstGeom>
          <a:solidFill>
            <a:srgbClr val="16304C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57232" y="1709928"/>
            <a:ext cx="80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857232" y="207568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C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2 min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9857232" y="237744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&amp; score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857232" y="2990088"/>
            <a:ext cx="15727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captured; Moodle returns scores and feedback.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48640" y="4937760"/>
            <a:ext cx="11091672" cy="822960"/>
          </a:xfrm>
          <a:prstGeom prst="roundRect">
            <a:avLst>
              <a:gd name="adj" fmla="val 11111"/>
            </a:avLst>
          </a:prstGeom>
          <a:solidFill>
            <a:srgbClr val="0B2A3A"/>
          </a:solidFill>
          <a:ln w="12700">
            <a:solidFill>
              <a:srgbClr val="0A6F9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4937760"/>
            <a:ext cx="82296" cy="822960"/>
          </a:xfrm>
          <a:prstGeom prst="roundRect">
            <a:avLst>
              <a:gd name="adj" fmla="val 33333"/>
            </a:avLst>
          </a:prstGeom>
          <a:solidFill>
            <a:srgbClr val="00BCEB"/>
          </a:solidFill>
          <a:ln/>
        </p:spPr>
      </p:sp>
      <p:sp>
        <p:nvSpPr>
          <p:cNvPr id="40" name="Text 38"/>
          <p:cNvSpPr/>
          <p:nvPr/>
        </p:nvSpPr>
        <p:spPr>
          <a:xfrm>
            <a:off x="868680" y="4937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Cognitive-load design:  </a:t>
            </a:r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23-minute practice block is split into four ~6-minute cases, so learners focus on one problem at a time before integrating them.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48640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2" name="Shape 40"/>
          <p:cNvSpPr/>
          <p:nvPr/>
        </p:nvSpPr>
        <p:spPr>
          <a:xfrm>
            <a:off x="573512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3" name="Shape 41"/>
          <p:cNvSpPr/>
          <p:nvPr/>
        </p:nvSpPr>
        <p:spPr>
          <a:xfrm>
            <a:off x="59838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4" name="Shape 42"/>
          <p:cNvSpPr/>
          <p:nvPr/>
        </p:nvSpPr>
        <p:spPr>
          <a:xfrm>
            <a:off x="623255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5" name="Shape 43"/>
          <p:cNvSpPr/>
          <p:nvPr/>
        </p:nvSpPr>
        <p:spPr>
          <a:xfrm>
            <a:off x="648127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6" name="Shape 44"/>
          <p:cNvSpPr/>
          <p:nvPr/>
        </p:nvSpPr>
        <p:spPr>
          <a:xfrm>
            <a:off x="672998" y="6327648"/>
            <a:ext cx="14630" cy="14630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7" name="Shape 45"/>
          <p:cNvSpPr/>
          <p:nvPr/>
        </p:nvSpPr>
        <p:spPr>
          <a:xfrm>
            <a:off x="697870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8" name="Shape 46"/>
          <p:cNvSpPr/>
          <p:nvPr/>
        </p:nvSpPr>
        <p:spPr>
          <a:xfrm>
            <a:off x="722742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9" name="Shape 47"/>
          <p:cNvSpPr/>
          <p:nvPr/>
        </p:nvSpPr>
        <p:spPr>
          <a:xfrm>
            <a:off x="74761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50" name="Shape 48"/>
          <p:cNvSpPr/>
          <p:nvPr/>
        </p:nvSpPr>
        <p:spPr>
          <a:xfrm>
            <a:off x="772485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51" name="Shape 49"/>
          <p:cNvSpPr/>
          <p:nvPr/>
        </p:nvSpPr>
        <p:spPr>
          <a:xfrm>
            <a:off x="797357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52" name="Text 50"/>
          <p:cNvSpPr/>
          <p:nvPr/>
        </p:nvSpPr>
        <p:spPr>
          <a:xfrm>
            <a:off x="871972" y="62544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1365016" y="62727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4" b="1" spc="15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504" dirty="0"/>
          </a:p>
        </p:txBody>
      </p:sp>
      <p:sp>
        <p:nvSpPr>
          <p:cNvPr id="54" name="Text 52"/>
          <p:cNvSpPr/>
          <p:nvPr/>
        </p:nvSpPr>
        <p:spPr>
          <a:xfrm>
            <a:off x="7315200" y="6272784"/>
            <a:ext cx="4325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HMF Design Clinic · Instructional Guide  ·  4 /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practice cycle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release of responsibility — repeated for each of the four case studies.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12680" y="502920"/>
            <a:ext cx="1627632" cy="310896"/>
          </a:xfrm>
          <a:prstGeom prst="roundRect">
            <a:avLst>
              <a:gd name="adj" fmla="val 50000"/>
            </a:avLst>
          </a:prstGeom>
          <a:solidFill>
            <a:srgbClr val="0F2036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12680" y="50292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× 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542032" cy="2286000"/>
          </a:xfrm>
          <a:prstGeom prst="roundRect">
            <a:avLst>
              <a:gd name="adj" fmla="val 4800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68096" y="19842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231343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pain point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68096" y="313639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sense of the customer’s concern.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054096" y="1783080"/>
            <a:ext cx="3291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3419856" y="1783080"/>
            <a:ext cx="2542032" cy="2286000"/>
          </a:xfrm>
          <a:prstGeom prst="roundRect">
            <a:avLst>
              <a:gd name="adj" fmla="val 4800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39312" y="19842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39312" y="231343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product + platform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3639312" y="313639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right Cisco solution.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25312" y="1783080"/>
            <a:ext cx="3291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291072" y="1783080"/>
            <a:ext cx="2542032" cy="2286000"/>
          </a:xfrm>
          <a:prstGeom prst="roundRect">
            <a:avLst>
              <a:gd name="adj" fmla="val 4800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10528" y="19842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10528" y="231343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SE explanation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510528" y="313639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Justify how it helps and the value.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796528" y="1783080"/>
            <a:ext cx="3291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9162288" y="1783080"/>
            <a:ext cx="2542032" cy="2286000"/>
          </a:xfrm>
          <a:prstGeom prst="roundRect">
            <a:avLst>
              <a:gd name="adj" fmla="val 4800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381744" y="19842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81744" y="231343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individually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381744" y="313639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learner records their own answer.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480560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0B2A3A"/>
          </a:solidFill>
          <a:ln w="12700">
            <a:solidFill>
              <a:srgbClr val="0A6F9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480560"/>
            <a:ext cx="82296" cy="1097280"/>
          </a:xfrm>
          <a:prstGeom prst="roundRect">
            <a:avLst>
              <a:gd name="adj" fmla="val 33333"/>
            </a:avLst>
          </a:prstGeom>
          <a:solidFill>
            <a:srgbClr val="00BCEB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4480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→ you do.  </a:t>
            </a:r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reasons together (formative, low-stakes); then each learner commits and submits their own answer (individual evidence). Repeating across four cases builds retrieval practice and confidence.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3512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0" name="Shape 28"/>
          <p:cNvSpPr/>
          <p:nvPr/>
        </p:nvSpPr>
        <p:spPr>
          <a:xfrm>
            <a:off x="59838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1" name="Shape 29"/>
          <p:cNvSpPr/>
          <p:nvPr/>
        </p:nvSpPr>
        <p:spPr>
          <a:xfrm>
            <a:off x="623255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2" name="Shape 30"/>
          <p:cNvSpPr/>
          <p:nvPr/>
        </p:nvSpPr>
        <p:spPr>
          <a:xfrm>
            <a:off x="648127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3" name="Shape 31"/>
          <p:cNvSpPr/>
          <p:nvPr/>
        </p:nvSpPr>
        <p:spPr>
          <a:xfrm>
            <a:off x="672998" y="6327648"/>
            <a:ext cx="14630" cy="14630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4" name="Shape 32"/>
          <p:cNvSpPr/>
          <p:nvPr/>
        </p:nvSpPr>
        <p:spPr>
          <a:xfrm>
            <a:off x="697870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5" name="Shape 33"/>
          <p:cNvSpPr/>
          <p:nvPr/>
        </p:nvSpPr>
        <p:spPr>
          <a:xfrm>
            <a:off x="722742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6" name="Shape 34"/>
          <p:cNvSpPr/>
          <p:nvPr/>
        </p:nvSpPr>
        <p:spPr>
          <a:xfrm>
            <a:off x="74761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7" name="Shape 35"/>
          <p:cNvSpPr/>
          <p:nvPr/>
        </p:nvSpPr>
        <p:spPr>
          <a:xfrm>
            <a:off x="772485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8" name="Shape 36"/>
          <p:cNvSpPr/>
          <p:nvPr/>
        </p:nvSpPr>
        <p:spPr>
          <a:xfrm>
            <a:off x="797357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9" name="Text 37"/>
          <p:cNvSpPr/>
          <p:nvPr/>
        </p:nvSpPr>
        <p:spPr>
          <a:xfrm>
            <a:off x="871972" y="62544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365016" y="62727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4" b="1" spc="15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504" dirty="0"/>
          </a:p>
        </p:txBody>
      </p:sp>
      <p:sp>
        <p:nvSpPr>
          <p:cNvPr id="41" name="Text 39"/>
          <p:cNvSpPr/>
          <p:nvPr/>
        </p:nvSpPr>
        <p:spPr>
          <a:xfrm>
            <a:off x="7315200" y="6272784"/>
            <a:ext cx="4325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HMF Design Clinic · Instructional Guide  ·  5 / 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&amp; success criteria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evidence — and what growing mastery looks like.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0F2036"/>
          </a:solidFill>
          <a:ln w="15875">
            <a:solidFill>
              <a:srgbClr val="124A5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276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answers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+ platform + the SE response for each pain point.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&amp; application   </a:t>
            </a:r>
            <a:pPr algn="l" indent="0" marL="0">
              <a:buNone/>
            </a:pPr>
            <a:r>
              <a:rPr lang="en-US" sz="11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Moodle, auto-scored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45352" y="146304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0F2036"/>
          </a:solidFill>
          <a:ln w="15875">
            <a:solidFill>
              <a:srgbClr val="1E6E4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19672" y="16276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 upload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19672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cumulative, customer-ready diagram per learner.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19672" y="24871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 &amp; authentic performance   </a:t>
            </a:r>
            <a:pPr algn="l" indent="0" marL="0">
              <a:buNone/>
            </a:pPr>
            <a:r>
              <a:rPr lang="en-US" sz="11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Moodle, auto-scored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30632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PROFICIENCY LADDER  —  what good looks like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42900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0F2036"/>
          </a:solidFill>
          <a:ln w="19050">
            <a:solidFill>
              <a:srgbClr val="3A465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" y="3685032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9FB0C6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1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417320" y="36850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Explorer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" y="427024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Foundational — spots the pain points and names plausible products.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096512" y="3429000"/>
            <a:ext cx="2011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315968" y="342900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0F2036"/>
          </a:solidFill>
          <a:ln w="19050">
            <a:solidFill>
              <a:srgbClr val="124A5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0" y="3685032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0BCEB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1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184648" y="36850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Builder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0" y="427024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— maps the right product + platform and explains the value.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863840" y="3429000"/>
            <a:ext cx="2011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8083296" y="342900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0F2036"/>
          </a:solidFill>
          <a:ln w="19050">
            <a:solidFill>
              <a:srgbClr val="6A521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39328" y="3685032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C663"/>
          </a:solidFill>
          <a:ln/>
        </p:spPr>
      </p:sp>
      <p:sp>
        <p:nvSpPr>
          <p:cNvPr id="27" name="Text 25"/>
          <p:cNvSpPr/>
          <p:nvPr/>
        </p:nvSpPr>
        <p:spPr>
          <a:xfrm>
            <a:off x="8339328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1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951976" y="36850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C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Strategist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339328" y="427024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— articulates SE value and a coherent cumulative topology.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is formative (safe to be wrong); the individual answers and the topology are summative — auto-scored in Moodle, which returns feedback.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2" name="Shape 30"/>
          <p:cNvSpPr/>
          <p:nvPr/>
        </p:nvSpPr>
        <p:spPr>
          <a:xfrm>
            <a:off x="573512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3" name="Shape 31"/>
          <p:cNvSpPr/>
          <p:nvPr/>
        </p:nvSpPr>
        <p:spPr>
          <a:xfrm>
            <a:off x="59838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4" name="Shape 32"/>
          <p:cNvSpPr/>
          <p:nvPr/>
        </p:nvSpPr>
        <p:spPr>
          <a:xfrm>
            <a:off x="623255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5" name="Shape 33"/>
          <p:cNvSpPr/>
          <p:nvPr/>
        </p:nvSpPr>
        <p:spPr>
          <a:xfrm>
            <a:off x="648127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6" name="Shape 34"/>
          <p:cNvSpPr/>
          <p:nvPr/>
        </p:nvSpPr>
        <p:spPr>
          <a:xfrm>
            <a:off x="672998" y="6327648"/>
            <a:ext cx="14630" cy="14630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7" name="Shape 35"/>
          <p:cNvSpPr/>
          <p:nvPr/>
        </p:nvSpPr>
        <p:spPr>
          <a:xfrm>
            <a:off x="697870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8" name="Shape 36"/>
          <p:cNvSpPr/>
          <p:nvPr/>
        </p:nvSpPr>
        <p:spPr>
          <a:xfrm>
            <a:off x="722742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9" name="Shape 37"/>
          <p:cNvSpPr/>
          <p:nvPr/>
        </p:nvSpPr>
        <p:spPr>
          <a:xfrm>
            <a:off x="74761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0" name="Shape 38"/>
          <p:cNvSpPr/>
          <p:nvPr/>
        </p:nvSpPr>
        <p:spPr>
          <a:xfrm>
            <a:off x="772485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1" name="Shape 39"/>
          <p:cNvSpPr/>
          <p:nvPr/>
        </p:nvSpPr>
        <p:spPr>
          <a:xfrm>
            <a:off x="797357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2" name="Text 40"/>
          <p:cNvSpPr/>
          <p:nvPr/>
        </p:nvSpPr>
        <p:spPr>
          <a:xfrm>
            <a:off x="871972" y="62544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365016" y="62727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4" b="1" spc="15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504" dirty="0"/>
          </a:p>
        </p:txBody>
      </p:sp>
      <p:sp>
        <p:nvSpPr>
          <p:cNvPr id="44" name="Text 42"/>
          <p:cNvSpPr/>
          <p:nvPr/>
        </p:nvSpPr>
        <p:spPr>
          <a:xfrm>
            <a:off x="7315200" y="6272784"/>
            <a:ext cx="4325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HMF Design Clinic · Instructional Guide  ·  6 /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Facilitation: guide on the side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 the thinking; don’t hand out the answers.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02152" cy="2240280"/>
          </a:xfrm>
          <a:prstGeom prst="roundRect">
            <a:avLst>
              <a:gd name="adj" fmla="val 4898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64208"/>
            <a:ext cx="3044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04672" y="2121408"/>
            <a:ext cx="30266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2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Moodle &amp; the groups.</a:t>
            </a:r>
            <a:endParaRPr lang="en-US" sz="13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2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objective &amp; success.</a:t>
            </a:r>
            <a:endParaRPr lang="en-US" sz="13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2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45-minute clock.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463040"/>
            <a:ext cx="3502152" cy="2240280"/>
          </a:xfrm>
          <a:prstGeom prst="roundRect">
            <a:avLst>
              <a:gd name="adj" fmla="val 4898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99432" y="1664208"/>
            <a:ext cx="3044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99432" y="2121408"/>
            <a:ext cx="30266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2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Circulate; ask “why this?”.</a:t>
            </a:r>
            <a:endParaRPr lang="en-US" sz="13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2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~6 min per case.</a:t>
            </a:r>
            <a:endParaRPr lang="en-US" sz="13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2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safe; all submit.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1463040"/>
            <a:ext cx="3502152" cy="2240280"/>
          </a:xfrm>
          <a:prstGeom prst="roundRect">
            <a:avLst>
              <a:gd name="adj" fmla="val 4898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94192" y="1664208"/>
            <a:ext cx="3044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0A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394192" y="2121408"/>
            <a:ext cx="30266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0A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2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all evidence is in.</a:t>
            </a:r>
            <a:endParaRPr lang="en-US" sz="13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0A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2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 quick reflection.</a:t>
            </a:r>
            <a:endParaRPr lang="en-US" sz="13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0A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2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one or two exemplars.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114800"/>
            <a:ext cx="5394960" cy="1645920"/>
          </a:xfrm>
          <a:prstGeom prst="roundRect">
            <a:avLst>
              <a:gd name="adj" fmla="val 6667"/>
            </a:avLst>
          </a:prstGeom>
          <a:solidFill>
            <a:srgbClr val="0C2A20"/>
          </a:solidFill>
          <a:ln w="15875">
            <a:solidFill>
              <a:srgbClr val="1E6E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431596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04672" y="4736592"/>
            <a:ext cx="4919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0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probing questions.</a:t>
            </a:r>
            <a:endParaRPr lang="en-US" sz="12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0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Time-box each case.</a:t>
            </a:r>
            <a:endParaRPr lang="en-US" sz="12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0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Insist on individual answers.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45352" y="4114800"/>
            <a:ext cx="5394960" cy="1645920"/>
          </a:xfrm>
          <a:prstGeom prst="roundRect">
            <a:avLst>
              <a:gd name="adj" fmla="val 6667"/>
            </a:avLst>
          </a:prstGeom>
          <a:solidFill>
            <a:srgbClr val="2A1414"/>
          </a:solidFill>
          <a:ln w="15875">
            <a:solidFill>
              <a:srgbClr val="6A2E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01384" y="431596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E06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01384" y="4736592"/>
            <a:ext cx="4919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06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0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Handing out the answers.</a:t>
            </a:r>
            <a:endParaRPr lang="en-US" sz="12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06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0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Letting one voice dominate.</a:t>
            </a:r>
            <a:endParaRPr lang="en-US" sz="12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06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0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the topology.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0" name="Shape 18"/>
          <p:cNvSpPr/>
          <p:nvPr/>
        </p:nvSpPr>
        <p:spPr>
          <a:xfrm>
            <a:off x="573512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1" name="Shape 19"/>
          <p:cNvSpPr/>
          <p:nvPr/>
        </p:nvSpPr>
        <p:spPr>
          <a:xfrm>
            <a:off x="59838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2" name="Shape 20"/>
          <p:cNvSpPr/>
          <p:nvPr/>
        </p:nvSpPr>
        <p:spPr>
          <a:xfrm>
            <a:off x="623255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3" name="Shape 21"/>
          <p:cNvSpPr/>
          <p:nvPr/>
        </p:nvSpPr>
        <p:spPr>
          <a:xfrm>
            <a:off x="648127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4" name="Shape 22"/>
          <p:cNvSpPr/>
          <p:nvPr/>
        </p:nvSpPr>
        <p:spPr>
          <a:xfrm>
            <a:off x="672998" y="6327648"/>
            <a:ext cx="14630" cy="14630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5" name="Shape 23"/>
          <p:cNvSpPr/>
          <p:nvPr/>
        </p:nvSpPr>
        <p:spPr>
          <a:xfrm>
            <a:off x="697870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6" name="Shape 24"/>
          <p:cNvSpPr/>
          <p:nvPr/>
        </p:nvSpPr>
        <p:spPr>
          <a:xfrm>
            <a:off x="722742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7" name="Shape 25"/>
          <p:cNvSpPr/>
          <p:nvPr/>
        </p:nvSpPr>
        <p:spPr>
          <a:xfrm>
            <a:off x="74761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8" name="Shape 26"/>
          <p:cNvSpPr/>
          <p:nvPr/>
        </p:nvSpPr>
        <p:spPr>
          <a:xfrm>
            <a:off x="772485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9" name="Shape 27"/>
          <p:cNvSpPr/>
          <p:nvPr/>
        </p:nvSpPr>
        <p:spPr>
          <a:xfrm>
            <a:off x="797357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0" name="Text 28"/>
          <p:cNvSpPr/>
          <p:nvPr/>
        </p:nvSpPr>
        <p:spPr>
          <a:xfrm>
            <a:off x="871972" y="62544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365016" y="62727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4" b="1" spc="15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504" dirty="0"/>
          </a:p>
        </p:txBody>
      </p:sp>
      <p:sp>
        <p:nvSpPr>
          <p:cNvPr id="32" name="Text 30"/>
          <p:cNvSpPr/>
          <p:nvPr/>
        </p:nvSpPr>
        <p:spPr>
          <a:xfrm>
            <a:off x="7315200" y="6272784"/>
            <a:ext cx="4325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HMF Design Clinic · Instructional Guide  ·  7 / 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Materials, setup &amp; access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need in the room — plus where learners go.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2423160"/>
          </a:xfrm>
          <a:prstGeom prst="roundRect">
            <a:avLst>
              <a:gd name="adj" fmla="val 5283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6420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MATERIALS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2084832"/>
            <a:ext cx="4937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set for groups of 2–4.</a:t>
            </a:r>
            <a:endParaRPr lang="en-US" sz="13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per participant.</a:t>
            </a:r>
            <a:endParaRPr lang="en-US" sz="13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flipchart + markers per table.</a:t>
            </a:r>
            <a:endParaRPr lang="en-US" sz="13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Circuit Image Convertor.</a:t>
            </a:r>
            <a:endParaRPr lang="en-US" sz="13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automatically in Moodle.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45352" y="1463040"/>
            <a:ext cx="5394960" cy="1600200"/>
          </a:xfrm>
          <a:prstGeom prst="roundRect">
            <a:avLst>
              <a:gd name="adj" fmla="val 8000"/>
            </a:avLst>
          </a:prstGeom>
          <a:solidFill>
            <a:srgbClr val="0F2036"/>
          </a:solidFill>
          <a:ln w="15875">
            <a:solidFill>
              <a:srgbClr val="124A5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19672" y="1700784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0C3A4E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167335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7543800" y="1719072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Moodle workshop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543800" y="2157984"/>
            <a:ext cx="854050" cy="237744"/>
          </a:xfrm>
          <a:prstGeom prst="roundRect">
            <a:avLst>
              <a:gd name="adj" fmla="val 19231"/>
            </a:avLst>
          </a:prstGeom>
          <a:solidFill>
            <a:srgbClr val="2FBE86"/>
          </a:solidFill>
          <a:ln/>
        </p:spPr>
      </p:sp>
      <p:sp>
        <p:nvSpPr>
          <p:cNvPr id="12" name="Text 10"/>
          <p:cNvSpPr/>
          <p:nvPr/>
        </p:nvSpPr>
        <p:spPr>
          <a:xfrm>
            <a:off x="7543800" y="2157984"/>
            <a:ext cx="8540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062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LINK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519672" y="2697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https://workshops.cisco.com/workshops/mod/hvp/view.php?id=9188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45352" y="3200400"/>
            <a:ext cx="5394960" cy="1325880"/>
          </a:xfrm>
          <a:prstGeom prst="roundRect">
            <a:avLst>
              <a:gd name="adj" fmla="val 9655"/>
            </a:avLst>
          </a:prstGeom>
          <a:solidFill>
            <a:srgbClr val="241B0C"/>
          </a:solidFill>
          <a:ln w="15875">
            <a:solidFill>
              <a:srgbClr val="7A5410"/>
            </a:solidFill>
            <a:prstDash val="dash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19672" y="3383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Image Convertor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464040" y="3429000"/>
            <a:ext cx="974750" cy="237744"/>
          </a:xfrm>
          <a:prstGeom prst="roundRect">
            <a:avLst>
              <a:gd name="adj" fmla="val 19231"/>
            </a:avLst>
          </a:prstGeom>
          <a:solidFill>
            <a:srgbClr val="FFC663"/>
          </a:solidFill>
          <a:ln/>
        </p:spPr>
      </p:sp>
      <p:sp>
        <p:nvSpPr>
          <p:cNvPr id="17" name="Text 15"/>
          <p:cNvSpPr/>
          <p:nvPr/>
        </p:nvSpPr>
        <p:spPr>
          <a:xfrm>
            <a:off x="9464040" y="3429000"/>
            <a:ext cx="9747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201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519672" y="38130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https://circuit-convertor.example.com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of the flipchart → topology diagram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Secure · HMF Design Clinic — instructional facilitator guide. Cedarline Health Group is a fictional customer. The Circuit Image Convertor link is a placeholder — replace before the session.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6069787"/>
            <a:ext cx="16459" cy="3840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621" y="6047842"/>
            <a:ext cx="16459" cy="6035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2" name="Shape 20"/>
          <p:cNvSpPr/>
          <p:nvPr/>
        </p:nvSpPr>
        <p:spPr>
          <a:xfrm>
            <a:off x="604601" y="6020410"/>
            <a:ext cx="16459" cy="87782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3" name="Shape 21"/>
          <p:cNvSpPr/>
          <p:nvPr/>
        </p:nvSpPr>
        <p:spPr>
          <a:xfrm>
            <a:off x="632582" y="5987491"/>
            <a:ext cx="16459" cy="120701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4" name="Shape 22"/>
          <p:cNvSpPr/>
          <p:nvPr/>
        </p:nvSpPr>
        <p:spPr>
          <a:xfrm>
            <a:off x="660563" y="5960059"/>
            <a:ext cx="16459" cy="148133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5" name="Shape 23"/>
          <p:cNvSpPr/>
          <p:nvPr/>
        </p:nvSpPr>
        <p:spPr>
          <a:xfrm>
            <a:off x="688543" y="5943600"/>
            <a:ext cx="16459" cy="164592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6" name="Shape 24"/>
          <p:cNvSpPr/>
          <p:nvPr/>
        </p:nvSpPr>
        <p:spPr>
          <a:xfrm>
            <a:off x="716524" y="5960059"/>
            <a:ext cx="16459" cy="148133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7" name="Shape 25"/>
          <p:cNvSpPr/>
          <p:nvPr/>
        </p:nvSpPr>
        <p:spPr>
          <a:xfrm>
            <a:off x="744504" y="5987491"/>
            <a:ext cx="16459" cy="120701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8" name="Shape 26"/>
          <p:cNvSpPr/>
          <p:nvPr/>
        </p:nvSpPr>
        <p:spPr>
          <a:xfrm>
            <a:off x="772485" y="6020410"/>
            <a:ext cx="16459" cy="87782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466" y="6047842"/>
            <a:ext cx="16459" cy="6035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0" name="Shape 28"/>
          <p:cNvSpPr/>
          <p:nvPr/>
        </p:nvSpPr>
        <p:spPr>
          <a:xfrm>
            <a:off x="828446" y="6069787"/>
            <a:ext cx="16459" cy="3840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1" name="Text 29"/>
          <p:cNvSpPr/>
          <p:nvPr/>
        </p:nvSpPr>
        <p:spPr>
          <a:xfrm>
            <a:off x="912388" y="587044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434328" y="58887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6" b="1" spc="15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54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Cisco Secure — HMF Design Clinic (Instructional Guide)</dc:creator>
  <cp:lastModifiedBy>Cisco Secure — HMF Design Clinic (Instructional Guide)</cp:lastModifiedBy>
  <cp:revision>1</cp:revision>
  <dcterms:created xsi:type="dcterms:W3CDTF">2026-08-19T16:06:45Z</dcterms:created>
  <dcterms:modified xsi:type="dcterms:W3CDTF">2026-08-19T16:06:45Z</dcterms:modified>
</cp:coreProperties>
</file>