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activity as a designed learning experience, not just a game: objectives → practice → evidence, in 45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objectives aloud. They are measurable and map to Bloom's levels: Understand → Apply → Analyze → Create.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Constructive alignment: objective → activity → evidence. Group discussion is formative; individual submissions are the scored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phase has an instructional purpose. Note the chunking of the practice block to manage cognitive load.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Gradual release: group discussion then individual commitment. Repetition across four cases is deliberate retrieval practice.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evidence types. The proficiency ladder is the success criteria — share it up front so learners know what good looks like.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Facilitator is a guide on the side. Before/during/after moves, plus clear Do/Avoid. Protect psychological safety.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Materials &amp; setup checklist. Access placeholders (Moodle QR + Circuit Image Convertor) must be replaced with real links before the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6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95554"/>
            <a:ext cx="31090" cy="72542"/>
          </a:xfrm>
          <a:prstGeom prst="roundRect">
            <a:avLst>
              <a:gd name="adj" fmla="val 49999"/>
            </a:avLst>
          </a:prstGeom>
          <a:solidFill>
            <a:srgbClr val="00BCEB"/>
          </a:solidFill>
          <a:ln/>
        </p:spPr>
      </p:sp>
      <p:sp>
        <p:nvSpPr>
          <p:cNvPr id="3" name="Shape 1"/>
          <p:cNvSpPr/>
          <p:nvPr/>
        </p:nvSpPr>
        <p:spPr>
          <a:xfrm>
            <a:off x="601492" y="654101"/>
            <a:ext cx="31090" cy="113995"/>
          </a:xfrm>
          <a:prstGeom prst="roundRect">
            <a:avLst>
              <a:gd name="adj" fmla="val 49999"/>
            </a:avLst>
          </a:prstGeom>
          <a:solidFill>
            <a:srgbClr val="00BCEB"/>
          </a:solidFill>
          <a:ln/>
        </p:spPr>
      </p:sp>
      <p:sp>
        <p:nvSpPr>
          <p:cNvPr id="4" name="Shape 2"/>
          <p:cNvSpPr/>
          <p:nvPr/>
        </p:nvSpPr>
        <p:spPr>
          <a:xfrm>
            <a:off x="654345" y="602285"/>
            <a:ext cx="31090" cy="165811"/>
          </a:xfrm>
          <a:prstGeom prst="roundRect">
            <a:avLst>
              <a:gd name="adj" fmla="val 49999"/>
            </a:avLst>
          </a:prstGeom>
          <a:solidFill>
            <a:srgbClr val="00BCEB"/>
          </a:solidFill>
          <a:ln/>
        </p:spPr>
      </p:sp>
      <p:sp>
        <p:nvSpPr>
          <p:cNvPr id="5" name="Shape 3"/>
          <p:cNvSpPr/>
          <p:nvPr/>
        </p:nvSpPr>
        <p:spPr>
          <a:xfrm>
            <a:off x="707197" y="540106"/>
            <a:ext cx="31090" cy="227990"/>
          </a:xfrm>
          <a:prstGeom prst="roundRect">
            <a:avLst>
              <a:gd name="adj" fmla="val 49999"/>
            </a:avLst>
          </a:prstGeom>
          <a:solidFill>
            <a:srgbClr val="00BCEB"/>
          </a:solidFill>
          <a:ln/>
        </p:spPr>
      </p:sp>
      <p:sp>
        <p:nvSpPr>
          <p:cNvPr id="6" name="Shape 4"/>
          <p:cNvSpPr/>
          <p:nvPr/>
        </p:nvSpPr>
        <p:spPr>
          <a:xfrm>
            <a:off x="760049" y="488290"/>
            <a:ext cx="31090" cy="279806"/>
          </a:xfrm>
          <a:prstGeom prst="roundRect">
            <a:avLst>
              <a:gd name="adj" fmla="val 49999"/>
            </a:avLst>
          </a:prstGeom>
          <a:solidFill>
            <a:srgbClr val="00BCEB"/>
          </a:solidFill>
          <a:ln/>
        </p:spPr>
      </p:sp>
      <p:sp>
        <p:nvSpPr>
          <p:cNvPr id="7" name="Shape 5"/>
          <p:cNvSpPr/>
          <p:nvPr/>
        </p:nvSpPr>
        <p:spPr>
          <a:xfrm>
            <a:off x="812902" y="457200"/>
            <a:ext cx="31090" cy="310896"/>
          </a:xfrm>
          <a:prstGeom prst="roundRect">
            <a:avLst>
              <a:gd name="adj" fmla="val 49999"/>
            </a:avLst>
          </a:prstGeom>
          <a:solidFill>
            <a:srgbClr val="00BCEB"/>
          </a:solidFill>
          <a:ln/>
        </p:spPr>
      </p:sp>
      <p:sp>
        <p:nvSpPr>
          <p:cNvPr id="8" name="Shape 6"/>
          <p:cNvSpPr/>
          <p:nvPr/>
        </p:nvSpPr>
        <p:spPr>
          <a:xfrm>
            <a:off x="865754" y="488290"/>
            <a:ext cx="31090" cy="279806"/>
          </a:xfrm>
          <a:prstGeom prst="roundRect">
            <a:avLst>
              <a:gd name="adj" fmla="val 49999"/>
            </a:avLst>
          </a:prstGeom>
          <a:solidFill>
            <a:srgbClr val="00BCEB"/>
          </a:solidFill>
          <a:ln/>
        </p:spPr>
      </p:sp>
      <p:sp>
        <p:nvSpPr>
          <p:cNvPr id="9" name="Shape 7"/>
          <p:cNvSpPr/>
          <p:nvPr/>
        </p:nvSpPr>
        <p:spPr>
          <a:xfrm>
            <a:off x="918606" y="540106"/>
            <a:ext cx="31090" cy="227990"/>
          </a:xfrm>
          <a:prstGeom prst="roundRect">
            <a:avLst>
              <a:gd name="adj" fmla="val 49999"/>
            </a:avLst>
          </a:prstGeom>
          <a:solidFill>
            <a:srgbClr val="00BCEB"/>
          </a:solidFill>
          <a:ln/>
        </p:spPr>
      </p:sp>
      <p:sp>
        <p:nvSpPr>
          <p:cNvPr id="10" name="Shape 8"/>
          <p:cNvSpPr/>
          <p:nvPr/>
        </p:nvSpPr>
        <p:spPr>
          <a:xfrm>
            <a:off x="971459" y="602285"/>
            <a:ext cx="31090" cy="165811"/>
          </a:xfrm>
          <a:prstGeom prst="roundRect">
            <a:avLst>
              <a:gd name="adj" fmla="val 49999"/>
            </a:avLst>
          </a:prstGeom>
          <a:solidFill>
            <a:srgbClr val="00BCEB"/>
          </a:solidFill>
          <a:ln/>
        </p:spPr>
      </p:sp>
      <p:sp>
        <p:nvSpPr>
          <p:cNvPr id="11" name="Shape 9"/>
          <p:cNvSpPr/>
          <p:nvPr/>
        </p:nvSpPr>
        <p:spPr>
          <a:xfrm>
            <a:off x="1024311" y="654101"/>
            <a:ext cx="31090" cy="113995"/>
          </a:xfrm>
          <a:prstGeom prst="roundRect">
            <a:avLst>
              <a:gd name="adj" fmla="val 49999"/>
            </a:avLst>
          </a:prstGeom>
          <a:solidFill>
            <a:srgbClr val="00BCE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77163" y="695554"/>
            <a:ext cx="31090" cy="72542"/>
          </a:xfrm>
          <a:prstGeom prst="roundRect">
            <a:avLst>
              <a:gd name="adj" fmla="val 49999"/>
            </a:avLst>
          </a:prstGeom>
          <a:solidFill>
            <a:srgbClr val="00BCEB"/>
          </a:solidFill>
          <a:ln/>
        </p:spPr>
      </p:sp>
      <p:sp>
        <p:nvSpPr>
          <p:cNvPr id="13" name="Text 11"/>
          <p:cNvSpPr/>
          <p:nvPr/>
        </p:nvSpPr>
        <p:spPr>
          <a:xfrm>
            <a:off x="1235720" y="3840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EE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133295" y="402336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92" b="1" spc="150" kern="0" dirty="0">
                <a:solidFill>
                  <a:srgbClr val="00B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1092" dirty="0"/>
          </a:p>
        </p:txBody>
      </p:sp>
      <p:sp>
        <p:nvSpPr>
          <p:cNvPr id="15" name="Text 13"/>
          <p:cNvSpPr/>
          <p:nvPr/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B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INSTRUCTIONAL DESIGN  ·  FACILITATOR GUIDE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1208" y="224028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EE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HMF Design Clinic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548640" y="315468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E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experiential  </a:t>
            </a:r>
            <a:pPr algn="l" indent="0" marL="0">
              <a:buNone/>
            </a:pPr>
            <a:r>
              <a:rPr lang="en-US" sz="2400" b="1" dirty="0">
                <a:solidFill>
                  <a:srgbClr val="00B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45-minute</a:t>
            </a:r>
            <a:pPr algn="l" indent="0" marL="0">
              <a:buNone/>
            </a:pPr>
            <a:r>
              <a:rPr lang="en-US" sz="2400" b="1" dirty="0">
                <a:solidFill>
                  <a:srgbClr val="EE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learning activity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48640" y="38862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B9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Learn-by-doing: Solution Engineers diagnose a customer’s security pain points, map Cisco solutions, and produce a customer-ready topology. Built with backward design — objectives drive the practice and the evidence.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9464040" y="2286000"/>
            <a:ext cx="2148840" cy="1554480"/>
          </a:xfrm>
          <a:prstGeom prst="roundRect">
            <a:avLst>
              <a:gd name="adj" fmla="val 9412"/>
            </a:avLst>
          </a:prstGeom>
          <a:solidFill>
            <a:srgbClr val="16304C"/>
          </a:solidFill>
          <a:ln w="15875">
            <a:solidFill>
              <a:srgbClr val="0A6F9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464040" y="2350008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6600" dirty="0"/>
          </a:p>
        </p:txBody>
      </p:sp>
      <p:sp>
        <p:nvSpPr>
          <p:cNvPr id="21" name="Text 19"/>
          <p:cNvSpPr/>
          <p:nvPr/>
        </p:nvSpPr>
        <p:spPr>
          <a:xfrm>
            <a:off x="9464040" y="336499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00B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5257800"/>
            <a:ext cx="2664379" cy="310896"/>
          </a:xfrm>
          <a:prstGeom prst="roundRect">
            <a:avLst>
              <a:gd name="adj" fmla="val 50000"/>
            </a:avLst>
          </a:prstGeom>
          <a:solidFill>
            <a:srgbClr val="0F2036"/>
          </a:solidFill>
          <a:ln w="12700">
            <a:solidFill>
              <a:srgbClr val="00BC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5257800"/>
            <a:ext cx="26643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9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/ experiential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95899" y="5257800"/>
            <a:ext cx="1875800" cy="310896"/>
          </a:xfrm>
          <a:prstGeom prst="roundRect">
            <a:avLst>
              <a:gd name="adj" fmla="val 50000"/>
            </a:avLst>
          </a:prstGeom>
          <a:solidFill>
            <a:srgbClr val="0F2036"/>
          </a:solidFill>
          <a:ln w="12700">
            <a:solidFill>
              <a:srgbClr val="00BC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95899" y="5257800"/>
            <a:ext cx="187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9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of 2–4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54579" y="5257800"/>
            <a:ext cx="2664379" cy="310896"/>
          </a:xfrm>
          <a:prstGeom prst="roundRect">
            <a:avLst>
              <a:gd name="adj" fmla="val 50000"/>
            </a:avLst>
          </a:prstGeom>
          <a:solidFill>
            <a:srgbClr val="0F2036"/>
          </a:solidFill>
          <a:ln w="12700">
            <a:solidFill>
              <a:srgbClr val="2FBE8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54579" y="5257800"/>
            <a:ext cx="26643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9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+ summative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63825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Secure · Cedarline Health Group is a fictional customer.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6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E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4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activity, participants will be able to: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914400"/>
          </a:xfrm>
          <a:prstGeom prst="roundRect">
            <a:avLst>
              <a:gd name="adj" fmla="val 11000"/>
            </a:avLst>
          </a:prstGeom>
          <a:solidFill>
            <a:srgbClr val="0F2036"/>
          </a:solidFill>
          <a:ln w="12700">
            <a:solidFill>
              <a:srgbClr val="20374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463040" y="1773936"/>
            <a:ext cx="1389888" cy="402336"/>
          </a:xfrm>
          <a:prstGeom prst="roundRect">
            <a:avLst>
              <a:gd name="adj" fmla="val 20455"/>
            </a:avLst>
          </a:prstGeom>
          <a:solidFill>
            <a:srgbClr val="16304C"/>
          </a:solidFill>
          <a:ln w="15875">
            <a:solidFill>
              <a:srgbClr val="00BC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3040" y="1773936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00B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46120" y="1636776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EE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customer’s security pain point in each case study.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738360" y="1636776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84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Practiced in: reading each case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569464"/>
            <a:ext cx="11091672" cy="914400"/>
          </a:xfrm>
          <a:prstGeom prst="roundRect">
            <a:avLst>
              <a:gd name="adj" fmla="val 11000"/>
            </a:avLst>
          </a:prstGeom>
          <a:solidFill>
            <a:srgbClr val="0F2036"/>
          </a:solidFill>
          <a:ln w="12700">
            <a:solidFill>
              <a:srgbClr val="20374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49808" y="27523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B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1463040" y="2834640"/>
            <a:ext cx="886968" cy="402336"/>
          </a:xfrm>
          <a:prstGeom prst="roundRect">
            <a:avLst>
              <a:gd name="adj" fmla="val 20455"/>
            </a:avLst>
          </a:prstGeom>
          <a:solidFill>
            <a:srgbClr val="16304C"/>
          </a:solidFill>
          <a:ln w="15875">
            <a:solidFill>
              <a:srgbClr val="2FBE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63040" y="2834640"/>
            <a:ext cx="886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2FB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46120" y="269748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EE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right Cisco product and platform to each pain point.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738360" y="269748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84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Practiced in: the four case studies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630168"/>
            <a:ext cx="11091672" cy="914400"/>
          </a:xfrm>
          <a:prstGeom prst="roundRect">
            <a:avLst>
              <a:gd name="adj" fmla="val 11000"/>
            </a:avLst>
          </a:prstGeom>
          <a:solidFill>
            <a:srgbClr val="0F2036"/>
          </a:solidFill>
          <a:ln w="12700">
            <a:solidFill>
              <a:srgbClr val="20374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9808" y="3813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0A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1463040" y="3895344"/>
            <a:ext cx="1088136" cy="402336"/>
          </a:xfrm>
          <a:prstGeom prst="roundRect">
            <a:avLst>
              <a:gd name="adj" fmla="val 20455"/>
            </a:avLst>
          </a:prstGeom>
          <a:solidFill>
            <a:srgbClr val="16304C"/>
          </a:solidFill>
          <a:ln w="15875">
            <a:solidFill>
              <a:srgbClr val="F0A2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63040" y="3895344"/>
            <a:ext cx="1088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F0A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46120" y="3758184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EE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the solution addresses the concern and the value it delivers.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738360" y="3758184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84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Practiced in: the SE response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4690872"/>
            <a:ext cx="11091672" cy="914400"/>
          </a:xfrm>
          <a:prstGeom prst="roundRect">
            <a:avLst>
              <a:gd name="adj" fmla="val 11000"/>
            </a:avLst>
          </a:prstGeom>
          <a:solidFill>
            <a:srgbClr val="0F2036"/>
          </a:solidFill>
          <a:ln w="12700">
            <a:solidFill>
              <a:srgbClr val="20374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49808" y="4873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C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1463040" y="4956048"/>
            <a:ext cx="987552" cy="402336"/>
          </a:xfrm>
          <a:prstGeom prst="roundRect">
            <a:avLst>
              <a:gd name="adj" fmla="val 20455"/>
            </a:avLst>
          </a:prstGeom>
          <a:solidFill>
            <a:srgbClr val="16304C"/>
          </a:solidFill>
          <a:ln w="15875">
            <a:solidFill>
              <a:srgbClr val="FFC66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63040" y="4956048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FFC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46120" y="4818888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EE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 one customer-ready topology across all four case studies.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738360" y="481888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84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Practiced in: flipchart → topology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84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rise through Bloom’s levels — from understanding a problem to creating a solution — so cognitive demand builds as the session goes.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6439814"/>
            <a:ext cx="14630" cy="34138"/>
          </a:xfrm>
          <a:prstGeom prst="roundRect">
            <a:avLst>
              <a:gd name="adj" fmla="val 50001"/>
            </a:avLst>
          </a:prstGeom>
          <a:solidFill>
            <a:srgbClr val="00BCEB"/>
          </a:solidFill>
          <a:ln/>
        </p:spPr>
      </p:sp>
      <p:sp>
        <p:nvSpPr>
          <p:cNvPr id="30" name="Shape 28"/>
          <p:cNvSpPr/>
          <p:nvPr/>
        </p:nvSpPr>
        <p:spPr>
          <a:xfrm>
            <a:off x="573512" y="6420307"/>
            <a:ext cx="14630" cy="53645"/>
          </a:xfrm>
          <a:prstGeom prst="roundRect">
            <a:avLst>
              <a:gd name="adj" fmla="val 50001"/>
            </a:avLst>
          </a:prstGeom>
          <a:solidFill>
            <a:srgbClr val="00BCEB"/>
          </a:solidFill>
          <a:ln/>
        </p:spPr>
      </p:sp>
      <p:sp>
        <p:nvSpPr>
          <p:cNvPr id="31" name="Shape 29"/>
          <p:cNvSpPr/>
          <p:nvPr/>
        </p:nvSpPr>
        <p:spPr>
          <a:xfrm>
            <a:off x="598383" y="6395923"/>
            <a:ext cx="14630" cy="78029"/>
          </a:xfrm>
          <a:prstGeom prst="roundRect">
            <a:avLst>
              <a:gd name="adj" fmla="val 50001"/>
            </a:avLst>
          </a:prstGeom>
          <a:solidFill>
            <a:srgbClr val="00BCEB"/>
          </a:solidFill>
          <a:ln/>
        </p:spPr>
      </p:sp>
      <p:sp>
        <p:nvSpPr>
          <p:cNvPr id="32" name="Shape 30"/>
          <p:cNvSpPr/>
          <p:nvPr/>
        </p:nvSpPr>
        <p:spPr>
          <a:xfrm>
            <a:off x="623255" y="6366662"/>
            <a:ext cx="14630" cy="107290"/>
          </a:xfrm>
          <a:prstGeom prst="roundRect">
            <a:avLst>
              <a:gd name="adj" fmla="val 50001"/>
            </a:avLst>
          </a:prstGeom>
          <a:solidFill>
            <a:srgbClr val="00BCEB"/>
          </a:solidFill>
          <a:ln/>
        </p:spPr>
      </p:sp>
      <p:sp>
        <p:nvSpPr>
          <p:cNvPr id="33" name="Shape 31"/>
          <p:cNvSpPr/>
          <p:nvPr/>
        </p:nvSpPr>
        <p:spPr>
          <a:xfrm>
            <a:off x="648127" y="6342278"/>
            <a:ext cx="14630" cy="131674"/>
          </a:xfrm>
          <a:prstGeom prst="roundRect">
            <a:avLst>
              <a:gd name="adj" fmla="val 50001"/>
            </a:avLst>
          </a:prstGeom>
          <a:solidFill>
            <a:srgbClr val="00BCEB"/>
          </a:solidFill>
          <a:ln/>
        </p:spPr>
      </p:sp>
      <p:sp>
        <p:nvSpPr>
          <p:cNvPr id="34" name="Shape 32"/>
          <p:cNvSpPr/>
          <p:nvPr/>
        </p:nvSpPr>
        <p:spPr>
          <a:xfrm>
            <a:off x="672998" y="6327648"/>
            <a:ext cx="14630" cy="146304"/>
          </a:xfrm>
          <a:prstGeom prst="roundRect">
            <a:avLst>
              <a:gd name="adj" fmla="val 50001"/>
            </a:avLst>
          </a:prstGeom>
          <a:solidFill>
            <a:srgbClr val="00BCEB"/>
          </a:solidFill>
          <a:ln/>
        </p:spPr>
      </p:sp>
      <p:sp>
        <p:nvSpPr>
          <p:cNvPr id="35" name="Shape 33"/>
          <p:cNvSpPr/>
          <p:nvPr/>
        </p:nvSpPr>
        <p:spPr>
          <a:xfrm>
            <a:off x="697870" y="6342278"/>
            <a:ext cx="14630" cy="131674"/>
          </a:xfrm>
          <a:prstGeom prst="roundRect">
            <a:avLst>
              <a:gd name="adj" fmla="val 50001"/>
            </a:avLst>
          </a:prstGeom>
          <a:solidFill>
            <a:srgbClr val="00BCEB"/>
          </a:solidFill>
          <a:ln/>
        </p:spPr>
      </p:sp>
      <p:sp>
        <p:nvSpPr>
          <p:cNvPr id="36" name="Shape 34"/>
          <p:cNvSpPr/>
          <p:nvPr/>
        </p:nvSpPr>
        <p:spPr>
          <a:xfrm>
            <a:off x="722742" y="6366662"/>
            <a:ext cx="14630" cy="107290"/>
          </a:xfrm>
          <a:prstGeom prst="roundRect">
            <a:avLst>
              <a:gd name="adj" fmla="val 50001"/>
            </a:avLst>
          </a:prstGeom>
          <a:solidFill>
            <a:srgbClr val="00BCEB"/>
          </a:solidFill>
          <a:ln/>
        </p:spPr>
      </p:sp>
      <p:sp>
        <p:nvSpPr>
          <p:cNvPr id="37" name="Shape 35"/>
          <p:cNvSpPr/>
          <p:nvPr/>
        </p:nvSpPr>
        <p:spPr>
          <a:xfrm>
            <a:off x="747613" y="6395923"/>
            <a:ext cx="14630" cy="78029"/>
          </a:xfrm>
          <a:prstGeom prst="roundRect">
            <a:avLst>
              <a:gd name="adj" fmla="val 50001"/>
            </a:avLst>
          </a:prstGeom>
          <a:solidFill>
            <a:srgbClr val="00BCEB"/>
          </a:solidFill>
          <a:ln/>
        </p:spPr>
      </p:sp>
      <p:sp>
        <p:nvSpPr>
          <p:cNvPr id="38" name="Shape 36"/>
          <p:cNvSpPr/>
          <p:nvPr/>
        </p:nvSpPr>
        <p:spPr>
          <a:xfrm>
            <a:off x="772485" y="6420307"/>
            <a:ext cx="14630" cy="53645"/>
          </a:xfrm>
          <a:prstGeom prst="roundRect">
            <a:avLst>
              <a:gd name="adj" fmla="val 50001"/>
            </a:avLst>
          </a:prstGeom>
          <a:solidFill>
            <a:srgbClr val="00BCEB"/>
          </a:solidFill>
          <a:ln/>
        </p:spPr>
      </p:sp>
      <p:sp>
        <p:nvSpPr>
          <p:cNvPr id="39" name="Shape 37"/>
          <p:cNvSpPr/>
          <p:nvPr/>
        </p:nvSpPr>
        <p:spPr>
          <a:xfrm>
            <a:off x="797357" y="6439814"/>
            <a:ext cx="14630" cy="34138"/>
          </a:xfrm>
          <a:prstGeom prst="roundRect">
            <a:avLst>
              <a:gd name="adj" fmla="val 50001"/>
            </a:avLst>
          </a:prstGeom>
          <a:solidFill>
            <a:srgbClr val="00BCEB"/>
          </a:solidFill>
          <a:ln/>
        </p:spPr>
      </p:sp>
      <p:sp>
        <p:nvSpPr>
          <p:cNvPr id="40" name="Text 38"/>
          <p:cNvSpPr/>
          <p:nvPr/>
        </p:nvSpPr>
        <p:spPr>
          <a:xfrm>
            <a:off x="871972" y="62544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E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365016" y="627278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4" b="1" spc="150" kern="0" dirty="0">
                <a:solidFill>
                  <a:srgbClr val="00B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504" dirty="0"/>
          </a:p>
        </p:txBody>
      </p:sp>
      <p:sp>
        <p:nvSpPr>
          <p:cNvPr id="42" name="Text 40"/>
          <p:cNvSpPr/>
          <p:nvPr/>
        </p:nvSpPr>
        <p:spPr>
          <a:xfrm>
            <a:off x="7315200" y="6272784"/>
            <a:ext cx="4325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HMF Design Clinic · Instructional Guide  ·  2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6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E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alignment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4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objective is practiced and produces evidence — nothing is taught that isn’t assessed, nothing assessed that isn’t taught.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15544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0B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023360" y="155448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FB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PRACTICE IT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138160" y="1554480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FC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OF LEARNING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11091672" cy="896112"/>
          </a:xfrm>
          <a:prstGeom prst="roundRect">
            <a:avLst>
              <a:gd name="adj" fmla="val 10204"/>
            </a:avLst>
          </a:prstGeom>
          <a:solidFill>
            <a:srgbClr val="16304C"/>
          </a:solidFill>
          <a:ln w="12700">
            <a:solidFill>
              <a:srgbClr val="2037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965960"/>
            <a:ext cx="2880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EE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pain point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657600" y="1965960"/>
            <a:ext cx="274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4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069080" y="1965960"/>
            <a:ext cx="3657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B9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&amp; discuss the case as a group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0" y="1965960"/>
            <a:ext cx="274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4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183880" y="1965960"/>
            <a:ext cx="336499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B9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discussion — </a:t>
            </a:r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F0A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971800"/>
            <a:ext cx="11091672" cy="896112"/>
          </a:xfrm>
          <a:prstGeom prst="roundRect">
            <a:avLst>
              <a:gd name="adj" fmla="val 10204"/>
            </a:avLst>
          </a:prstGeom>
          <a:solidFill>
            <a:srgbClr val="0F2036"/>
          </a:solidFill>
          <a:ln w="12700">
            <a:solidFill>
              <a:srgbClr val="2037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971800"/>
            <a:ext cx="2880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EE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product + platform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657600" y="2971800"/>
            <a:ext cx="274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4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069080" y="2971800"/>
            <a:ext cx="3657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B9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 product &amp; platform per pain point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0" y="2971800"/>
            <a:ext cx="274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4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183880" y="2971800"/>
            <a:ext cx="336499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B9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answer in Moodle — </a:t>
            </a:r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FB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11091672" cy="896112"/>
          </a:xfrm>
          <a:prstGeom prst="roundRect">
            <a:avLst>
              <a:gd name="adj" fmla="val 10204"/>
            </a:avLst>
          </a:prstGeom>
          <a:solidFill>
            <a:srgbClr val="16304C"/>
          </a:solidFill>
          <a:ln w="12700">
            <a:solidFill>
              <a:srgbClr val="2037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977640"/>
            <a:ext cx="2880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EE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Articulate SE value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657600" y="3977640"/>
            <a:ext cx="274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4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069080" y="3977640"/>
            <a:ext cx="3657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B9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Solution Engineer response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0" y="3977640"/>
            <a:ext cx="274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4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183880" y="3977640"/>
            <a:ext cx="336499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B9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answer in Moodle — </a:t>
            </a:r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FB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4983480"/>
            <a:ext cx="11091672" cy="896112"/>
          </a:xfrm>
          <a:prstGeom prst="roundRect">
            <a:avLst>
              <a:gd name="adj" fmla="val 10204"/>
            </a:avLst>
          </a:prstGeom>
          <a:solidFill>
            <a:srgbClr val="0F2036"/>
          </a:solidFill>
          <a:ln w="12700">
            <a:solidFill>
              <a:srgbClr val="2037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983480"/>
            <a:ext cx="2880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EE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 a topology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3657600" y="4983480"/>
            <a:ext cx="274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4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069080" y="4983480"/>
            <a:ext cx="3657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B9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one flipchart → convert to a diagram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772400" y="4983480"/>
            <a:ext cx="274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4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183880" y="4983480"/>
            <a:ext cx="336499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B9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topology upload — </a:t>
            </a:r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FB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48640" y="6439814"/>
            <a:ext cx="14630" cy="34138"/>
          </a:xfrm>
          <a:prstGeom prst="roundRect">
            <a:avLst>
              <a:gd name="adj" fmla="val 50001"/>
            </a:avLst>
          </a:prstGeom>
          <a:solidFill>
            <a:srgbClr val="00BCEB"/>
          </a:solidFill>
          <a:ln/>
        </p:spPr>
      </p:sp>
      <p:sp>
        <p:nvSpPr>
          <p:cNvPr id="32" name="Shape 30"/>
          <p:cNvSpPr/>
          <p:nvPr/>
        </p:nvSpPr>
        <p:spPr>
          <a:xfrm>
            <a:off x="573512" y="6420307"/>
            <a:ext cx="14630" cy="53645"/>
          </a:xfrm>
          <a:prstGeom prst="roundRect">
            <a:avLst>
              <a:gd name="adj" fmla="val 50001"/>
            </a:avLst>
          </a:prstGeom>
          <a:solidFill>
            <a:srgbClr val="00BCEB"/>
          </a:solidFill>
          <a:ln/>
        </p:spPr>
      </p:sp>
      <p:sp>
        <p:nvSpPr>
          <p:cNvPr id="33" name="Shape 31"/>
          <p:cNvSpPr/>
          <p:nvPr/>
        </p:nvSpPr>
        <p:spPr>
          <a:xfrm>
            <a:off x="598383" y="6395923"/>
            <a:ext cx="14630" cy="78029"/>
          </a:xfrm>
          <a:prstGeom prst="roundRect">
            <a:avLst>
              <a:gd name="adj" fmla="val 50001"/>
            </a:avLst>
          </a:prstGeom>
          <a:solidFill>
            <a:srgbClr val="00BCEB"/>
          </a:solidFill>
          <a:ln/>
        </p:spPr>
      </p:sp>
      <p:sp>
        <p:nvSpPr>
          <p:cNvPr id="34" name="Shape 32"/>
          <p:cNvSpPr/>
          <p:nvPr/>
        </p:nvSpPr>
        <p:spPr>
          <a:xfrm>
            <a:off x="623255" y="6366662"/>
            <a:ext cx="14630" cy="107290"/>
          </a:xfrm>
          <a:prstGeom prst="roundRect">
            <a:avLst>
              <a:gd name="adj" fmla="val 50001"/>
            </a:avLst>
          </a:prstGeom>
          <a:solidFill>
            <a:srgbClr val="00BCEB"/>
          </a:solidFill>
          <a:ln/>
        </p:spPr>
      </p:sp>
      <p:sp>
        <p:nvSpPr>
          <p:cNvPr id="35" name="Shape 33"/>
          <p:cNvSpPr/>
          <p:nvPr/>
        </p:nvSpPr>
        <p:spPr>
          <a:xfrm>
            <a:off x="648127" y="6342278"/>
            <a:ext cx="14630" cy="131674"/>
          </a:xfrm>
          <a:prstGeom prst="roundRect">
            <a:avLst>
              <a:gd name="adj" fmla="val 50001"/>
            </a:avLst>
          </a:prstGeom>
          <a:solidFill>
            <a:srgbClr val="00BCEB"/>
          </a:solidFill>
          <a:ln/>
        </p:spPr>
      </p:sp>
      <p:sp>
        <p:nvSpPr>
          <p:cNvPr id="36" name="Shape 34"/>
          <p:cNvSpPr/>
          <p:nvPr/>
        </p:nvSpPr>
        <p:spPr>
          <a:xfrm>
            <a:off x="672998" y="6327648"/>
            <a:ext cx="14630" cy="146304"/>
          </a:xfrm>
          <a:prstGeom prst="roundRect">
            <a:avLst>
              <a:gd name="adj" fmla="val 50001"/>
            </a:avLst>
          </a:prstGeom>
          <a:solidFill>
            <a:srgbClr val="00BCEB"/>
          </a:solidFill>
          <a:ln/>
        </p:spPr>
      </p:sp>
      <p:sp>
        <p:nvSpPr>
          <p:cNvPr id="37" name="Shape 35"/>
          <p:cNvSpPr/>
          <p:nvPr/>
        </p:nvSpPr>
        <p:spPr>
          <a:xfrm>
            <a:off x="697870" y="6342278"/>
            <a:ext cx="14630" cy="131674"/>
          </a:xfrm>
          <a:prstGeom prst="roundRect">
            <a:avLst>
              <a:gd name="adj" fmla="val 50001"/>
            </a:avLst>
          </a:prstGeom>
          <a:solidFill>
            <a:srgbClr val="00BCEB"/>
          </a:solidFill>
          <a:ln/>
        </p:spPr>
      </p:sp>
      <p:sp>
        <p:nvSpPr>
          <p:cNvPr id="38" name="Shape 36"/>
          <p:cNvSpPr/>
          <p:nvPr/>
        </p:nvSpPr>
        <p:spPr>
          <a:xfrm>
            <a:off x="722742" y="6366662"/>
            <a:ext cx="14630" cy="107290"/>
          </a:xfrm>
          <a:prstGeom prst="roundRect">
            <a:avLst>
              <a:gd name="adj" fmla="val 50001"/>
            </a:avLst>
          </a:prstGeom>
          <a:solidFill>
            <a:srgbClr val="00BCEB"/>
          </a:solidFill>
          <a:ln/>
        </p:spPr>
      </p:sp>
      <p:sp>
        <p:nvSpPr>
          <p:cNvPr id="39" name="Shape 37"/>
          <p:cNvSpPr/>
          <p:nvPr/>
        </p:nvSpPr>
        <p:spPr>
          <a:xfrm>
            <a:off x="747613" y="6395923"/>
            <a:ext cx="14630" cy="78029"/>
          </a:xfrm>
          <a:prstGeom prst="roundRect">
            <a:avLst>
              <a:gd name="adj" fmla="val 50001"/>
            </a:avLst>
          </a:prstGeom>
          <a:solidFill>
            <a:srgbClr val="00BCEB"/>
          </a:solidFill>
          <a:ln/>
        </p:spPr>
      </p:sp>
      <p:sp>
        <p:nvSpPr>
          <p:cNvPr id="40" name="Shape 38"/>
          <p:cNvSpPr/>
          <p:nvPr/>
        </p:nvSpPr>
        <p:spPr>
          <a:xfrm>
            <a:off x="772485" y="6420307"/>
            <a:ext cx="14630" cy="53645"/>
          </a:xfrm>
          <a:prstGeom prst="roundRect">
            <a:avLst>
              <a:gd name="adj" fmla="val 50001"/>
            </a:avLst>
          </a:prstGeom>
          <a:solidFill>
            <a:srgbClr val="00BCEB"/>
          </a:solidFill>
          <a:ln/>
        </p:spPr>
      </p:sp>
      <p:sp>
        <p:nvSpPr>
          <p:cNvPr id="41" name="Shape 39"/>
          <p:cNvSpPr/>
          <p:nvPr/>
        </p:nvSpPr>
        <p:spPr>
          <a:xfrm>
            <a:off x="797357" y="6439814"/>
            <a:ext cx="14630" cy="34138"/>
          </a:xfrm>
          <a:prstGeom prst="roundRect">
            <a:avLst>
              <a:gd name="adj" fmla="val 50001"/>
            </a:avLst>
          </a:prstGeom>
          <a:solidFill>
            <a:srgbClr val="00BCEB"/>
          </a:solidFill>
          <a:ln/>
        </p:spPr>
      </p:sp>
      <p:sp>
        <p:nvSpPr>
          <p:cNvPr id="42" name="Text 40"/>
          <p:cNvSpPr/>
          <p:nvPr/>
        </p:nvSpPr>
        <p:spPr>
          <a:xfrm>
            <a:off x="871972" y="62544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E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365016" y="627278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4" b="1" spc="150" kern="0" dirty="0">
                <a:solidFill>
                  <a:srgbClr val="00B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504" dirty="0"/>
          </a:p>
        </p:txBody>
      </p:sp>
      <p:sp>
        <p:nvSpPr>
          <p:cNvPr id="44" name="Text 42"/>
          <p:cNvSpPr/>
          <p:nvPr/>
        </p:nvSpPr>
        <p:spPr>
          <a:xfrm>
            <a:off x="7315200" y="6272784"/>
            <a:ext cx="4325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HMF Design Clinic · Instructional Guide  ·  3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6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E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learning arc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4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phases, each with an instructional purpose — 45 minutes end to end.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975104" cy="3154680"/>
          </a:xfrm>
          <a:prstGeom prst="roundRect">
            <a:avLst>
              <a:gd name="adj" fmla="val 5556"/>
            </a:avLst>
          </a:prstGeom>
          <a:solidFill>
            <a:srgbClr val="0F2036"/>
          </a:solidFill>
          <a:ln w="12700">
            <a:solidFill>
              <a:srgbClr val="20374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09928"/>
            <a:ext cx="973653" cy="274320"/>
          </a:xfrm>
          <a:prstGeom prst="roundRect">
            <a:avLst>
              <a:gd name="adj" fmla="val 20000"/>
            </a:avLst>
          </a:prstGeom>
          <a:solidFill>
            <a:srgbClr val="16304C"/>
          </a:solidFill>
          <a:ln w="12700">
            <a:solidFill>
              <a:srgbClr val="00BC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709928"/>
            <a:ext cx="9736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00B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49808" y="207568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C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5 min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49808" y="2377440"/>
            <a:ext cx="15727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E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set up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49808" y="2990088"/>
            <a:ext cx="157276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B9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Orient, form groups, surface prior knowledge of the customer.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05456" y="1508760"/>
            <a:ext cx="301752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825496" y="1508760"/>
            <a:ext cx="1975104" cy="3154680"/>
          </a:xfrm>
          <a:prstGeom prst="roundRect">
            <a:avLst>
              <a:gd name="adj" fmla="val 5556"/>
            </a:avLst>
          </a:prstGeom>
          <a:solidFill>
            <a:srgbClr val="0F2036"/>
          </a:solidFill>
          <a:ln w="12700">
            <a:solidFill>
              <a:srgbClr val="20374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026664" y="1709928"/>
            <a:ext cx="973653" cy="274320"/>
          </a:xfrm>
          <a:prstGeom prst="roundRect">
            <a:avLst>
              <a:gd name="adj" fmla="val 20000"/>
            </a:avLst>
          </a:prstGeom>
          <a:solidFill>
            <a:srgbClr val="16304C"/>
          </a:solidFill>
          <a:ln w="12700">
            <a:solidFill>
              <a:srgbClr val="2FBE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26664" y="1709928"/>
            <a:ext cx="9736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FB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026664" y="207568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C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23 min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026664" y="2377440"/>
            <a:ext cx="15727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E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case studies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026664" y="2990088"/>
            <a:ext cx="157276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B9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+ application, chunked into ~6-min cases to manage load.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82312" y="1508760"/>
            <a:ext cx="301752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5102352" y="1508760"/>
            <a:ext cx="1975104" cy="3154680"/>
          </a:xfrm>
          <a:prstGeom prst="roundRect">
            <a:avLst>
              <a:gd name="adj" fmla="val 5556"/>
            </a:avLst>
          </a:prstGeom>
          <a:solidFill>
            <a:srgbClr val="0F2036"/>
          </a:solidFill>
          <a:ln w="12700">
            <a:solidFill>
              <a:srgbClr val="20374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0" y="1709928"/>
            <a:ext cx="1143914" cy="274320"/>
          </a:xfrm>
          <a:prstGeom prst="roundRect">
            <a:avLst>
              <a:gd name="adj" fmla="val 20000"/>
            </a:avLst>
          </a:prstGeom>
          <a:solidFill>
            <a:srgbClr val="16304C"/>
          </a:solidFill>
          <a:ln w="12700">
            <a:solidFill>
              <a:srgbClr val="F0A2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0" y="1709928"/>
            <a:ext cx="11439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0A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303520" y="207568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C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10 min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303520" y="2377440"/>
            <a:ext cx="15727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E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Flipchart story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303520" y="2990088"/>
            <a:ext cx="157276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B9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the four solutions into one customer narrative.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059168" y="1508760"/>
            <a:ext cx="301752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7379208" y="1508760"/>
            <a:ext cx="1975104" cy="3154680"/>
          </a:xfrm>
          <a:prstGeom prst="roundRect">
            <a:avLst>
              <a:gd name="adj" fmla="val 5556"/>
            </a:avLst>
          </a:prstGeom>
          <a:solidFill>
            <a:srgbClr val="0F2036"/>
          </a:solidFill>
          <a:ln w="12700">
            <a:solidFill>
              <a:srgbClr val="20374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580376" y="1709928"/>
            <a:ext cx="888522" cy="274320"/>
          </a:xfrm>
          <a:prstGeom prst="roundRect">
            <a:avLst>
              <a:gd name="adj" fmla="val 20000"/>
            </a:avLst>
          </a:prstGeom>
          <a:solidFill>
            <a:srgbClr val="16304C"/>
          </a:solidFill>
          <a:ln w="12700">
            <a:solidFill>
              <a:srgbClr val="FFC66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80376" y="1709928"/>
            <a:ext cx="8885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C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580376" y="207568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C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5 min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580376" y="2377440"/>
            <a:ext cx="15727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E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&amp; convert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580376" y="2990088"/>
            <a:ext cx="157276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B9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authentic deliverable: photo → topology diagram.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336024" y="1508760"/>
            <a:ext cx="301752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9656064" y="1508760"/>
            <a:ext cx="1975104" cy="3154680"/>
          </a:xfrm>
          <a:prstGeom prst="roundRect">
            <a:avLst>
              <a:gd name="adj" fmla="val 5556"/>
            </a:avLst>
          </a:prstGeom>
          <a:solidFill>
            <a:srgbClr val="0F2036"/>
          </a:solidFill>
          <a:ln w="12700">
            <a:solidFill>
              <a:srgbClr val="20374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857232" y="1709928"/>
            <a:ext cx="803392" cy="274320"/>
          </a:xfrm>
          <a:prstGeom prst="roundRect">
            <a:avLst>
              <a:gd name="adj" fmla="val 20000"/>
            </a:avLst>
          </a:prstGeom>
          <a:solidFill>
            <a:srgbClr val="16304C"/>
          </a:solidFill>
          <a:ln w="12700">
            <a:solidFill>
              <a:srgbClr val="00BC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857232" y="1709928"/>
            <a:ext cx="80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00B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9857232" y="207568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C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2 min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9857232" y="2377440"/>
            <a:ext cx="15727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E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&amp; score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9857232" y="2990088"/>
            <a:ext cx="157276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B9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captured; Moodle returns scores and feedback.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48640" y="4937760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0B2A3A"/>
          </a:solidFill>
          <a:ln w="12700">
            <a:solidFill>
              <a:srgbClr val="0A6F9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8640" y="4937760"/>
            <a:ext cx="82296" cy="822960"/>
          </a:xfrm>
          <a:prstGeom prst="roundRect">
            <a:avLst>
              <a:gd name="adj" fmla="val 33333"/>
            </a:avLst>
          </a:prstGeom>
          <a:solidFill>
            <a:srgbClr val="00BCEB"/>
          </a:solidFill>
          <a:ln/>
        </p:spPr>
      </p:sp>
      <p:sp>
        <p:nvSpPr>
          <p:cNvPr id="40" name="Text 38"/>
          <p:cNvSpPr/>
          <p:nvPr/>
        </p:nvSpPr>
        <p:spPr>
          <a:xfrm>
            <a:off x="868680" y="49377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Cognitive-load design:  </a:t>
            </a:r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B9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23-minute practice block is split into four ~6-minute cases, so learners focus on one problem at a time before integrating them.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548640" y="6439814"/>
            <a:ext cx="14630" cy="34138"/>
          </a:xfrm>
          <a:prstGeom prst="roundRect">
            <a:avLst>
              <a:gd name="adj" fmla="val 50001"/>
            </a:avLst>
          </a:prstGeom>
          <a:solidFill>
            <a:srgbClr val="00BCEB"/>
          </a:solidFill>
          <a:ln/>
        </p:spPr>
      </p:sp>
      <p:sp>
        <p:nvSpPr>
          <p:cNvPr id="42" name="Shape 40"/>
          <p:cNvSpPr/>
          <p:nvPr/>
        </p:nvSpPr>
        <p:spPr>
          <a:xfrm>
            <a:off x="573512" y="6420307"/>
            <a:ext cx="14630" cy="53645"/>
          </a:xfrm>
          <a:prstGeom prst="roundRect">
            <a:avLst>
              <a:gd name="adj" fmla="val 50001"/>
            </a:avLst>
          </a:prstGeom>
          <a:solidFill>
            <a:srgbClr val="00BCEB"/>
          </a:solidFill>
          <a:ln/>
        </p:spPr>
      </p:sp>
      <p:sp>
        <p:nvSpPr>
          <p:cNvPr id="43" name="Shape 41"/>
          <p:cNvSpPr/>
          <p:nvPr/>
        </p:nvSpPr>
        <p:spPr>
          <a:xfrm>
            <a:off x="598383" y="6395923"/>
            <a:ext cx="14630" cy="78029"/>
          </a:xfrm>
          <a:prstGeom prst="roundRect">
            <a:avLst>
              <a:gd name="adj" fmla="val 50001"/>
            </a:avLst>
          </a:prstGeom>
          <a:solidFill>
            <a:srgbClr val="00BCEB"/>
          </a:solidFill>
          <a:ln/>
        </p:spPr>
      </p:sp>
      <p:sp>
        <p:nvSpPr>
          <p:cNvPr id="44" name="Shape 42"/>
          <p:cNvSpPr/>
          <p:nvPr/>
        </p:nvSpPr>
        <p:spPr>
          <a:xfrm>
            <a:off x="623255" y="6366662"/>
            <a:ext cx="14630" cy="107290"/>
          </a:xfrm>
          <a:prstGeom prst="roundRect">
            <a:avLst>
              <a:gd name="adj" fmla="val 50001"/>
            </a:avLst>
          </a:prstGeom>
          <a:solidFill>
            <a:srgbClr val="00BCEB"/>
          </a:solidFill>
          <a:ln/>
        </p:spPr>
      </p:sp>
      <p:sp>
        <p:nvSpPr>
          <p:cNvPr id="45" name="Shape 43"/>
          <p:cNvSpPr/>
          <p:nvPr/>
        </p:nvSpPr>
        <p:spPr>
          <a:xfrm>
            <a:off x="648127" y="6342278"/>
            <a:ext cx="14630" cy="131674"/>
          </a:xfrm>
          <a:prstGeom prst="roundRect">
            <a:avLst>
              <a:gd name="adj" fmla="val 50001"/>
            </a:avLst>
          </a:prstGeom>
          <a:solidFill>
            <a:srgbClr val="00BCEB"/>
          </a:solidFill>
          <a:ln/>
        </p:spPr>
      </p:sp>
      <p:sp>
        <p:nvSpPr>
          <p:cNvPr id="46" name="Shape 44"/>
          <p:cNvSpPr/>
          <p:nvPr/>
        </p:nvSpPr>
        <p:spPr>
          <a:xfrm>
            <a:off x="672998" y="6327648"/>
            <a:ext cx="14630" cy="146304"/>
          </a:xfrm>
          <a:prstGeom prst="roundRect">
            <a:avLst>
              <a:gd name="adj" fmla="val 50001"/>
            </a:avLst>
          </a:prstGeom>
          <a:solidFill>
            <a:srgbClr val="00BCEB"/>
          </a:solidFill>
          <a:ln/>
        </p:spPr>
      </p:sp>
      <p:sp>
        <p:nvSpPr>
          <p:cNvPr id="47" name="Shape 45"/>
          <p:cNvSpPr/>
          <p:nvPr/>
        </p:nvSpPr>
        <p:spPr>
          <a:xfrm>
            <a:off x="697870" y="6342278"/>
            <a:ext cx="14630" cy="131674"/>
          </a:xfrm>
          <a:prstGeom prst="roundRect">
            <a:avLst>
              <a:gd name="adj" fmla="val 50001"/>
            </a:avLst>
          </a:prstGeom>
          <a:solidFill>
            <a:srgbClr val="00BCEB"/>
          </a:solidFill>
          <a:ln/>
        </p:spPr>
      </p:sp>
      <p:sp>
        <p:nvSpPr>
          <p:cNvPr id="48" name="Shape 46"/>
          <p:cNvSpPr/>
          <p:nvPr/>
        </p:nvSpPr>
        <p:spPr>
          <a:xfrm>
            <a:off x="722742" y="6366662"/>
            <a:ext cx="14630" cy="107290"/>
          </a:xfrm>
          <a:prstGeom prst="roundRect">
            <a:avLst>
              <a:gd name="adj" fmla="val 50001"/>
            </a:avLst>
          </a:prstGeom>
          <a:solidFill>
            <a:srgbClr val="00BCEB"/>
          </a:solidFill>
          <a:ln/>
        </p:spPr>
      </p:sp>
      <p:sp>
        <p:nvSpPr>
          <p:cNvPr id="49" name="Shape 47"/>
          <p:cNvSpPr/>
          <p:nvPr/>
        </p:nvSpPr>
        <p:spPr>
          <a:xfrm>
            <a:off x="747613" y="6395923"/>
            <a:ext cx="14630" cy="78029"/>
          </a:xfrm>
          <a:prstGeom prst="roundRect">
            <a:avLst>
              <a:gd name="adj" fmla="val 50001"/>
            </a:avLst>
          </a:prstGeom>
          <a:solidFill>
            <a:srgbClr val="00BCEB"/>
          </a:solidFill>
          <a:ln/>
        </p:spPr>
      </p:sp>
      <p:sp>
        <p:nvSpPr>
          <p:cNvPr id="50" name="Shape 48"/>
          <p:cNvSpPr/>
          <p:nvPr/>
        </p:nvSpPr>
        <p:spPr>
          <a:xfrm>
            <a:off x="772485" y="6420307"/>
            <a:ext cx="14630" cy="53645"/>
          </a:xfrm>
          <a:prstGeom prst="roundRect">
            <a:avLst>
              <a:gd name="adj" fmla="val 50001"/>
            </a:avLst>
          </a:prstGeom>
          <a:solidFill>
            <a:srgbClr val="00BCEB"/>
          </a:solidFill>
          <a:ln/>
        </p:spPr>
      </p:sp>
      <p:sp>
        <p:nvSpPr>
          <p:cNvPr id="51" name="Shape 49"/>
          <p:cNvSpPr/>
          <p:nvPr/>
        </p:nvSpPr>
        <p:spPr>
          <a:xfrm>
            <a:off x="797357" y="6439814"/>
            <a:ext cx="14630" cy="34138"/>
          </a:xfrm>
          <a:prstGeom prst="roundRect">
            <a:avLst>
              <a:gd name="adj" fmla="val 50001"/>
            </a:avLst>
          </a:prstGeom>
          <a:solidFill>
            <a:srgbClr val="00BCEB"/>
          </a:solidFill>
          <a:ln/>
        </p:spPr>
      </p:sp>
      <p:sp>
        <p:nvSpPr>
          <p:cNvPr id="52" name="Text 50"/>
          <p:cNvSpPr/>
          <p:nvPr/>
        </p:nvSpPr>
        <p:spPr>
          <a:xfrm>
            <a:off x="871972" y="62544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E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1365016" y="627278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4" b="1" spc="150" kern="0" dirty="0">
                <a:solidFill>
                  <a:srgbClr val="00B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504" dirty="0"/>
          </a:p>
        </p:txBody>
      </p:sp>
      <p:sp>
        <p:nvSpPr>
          <p:cNvPr id="54" name="Text 52"/>
          <p:cNvSpPr/>
          <p:nvPr/>
        </p:nvSpPr>
        <p:spPr>
          <a:xfrm>
            <a:off x="7315200" y="6272784"/>
            <a:ext cx="4325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HMF Design Clinic · Instructional Guide  ·  4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6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E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practice cycle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4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 release of responsibility — repeated for each of the four case studies.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0012680" y="502920"/>
            <a:ext cx="1627632" cy="310896"/>
          </a:xfrm>
          <a:prstGeom prst="roundRect">
            <a:avLst>
              <a:gd name="adj" fmla="val 50000"/>
            </a:avLst>
          </a:prstGeom>
          <a:solidFill>
            <a:srgbClr val="0F2036"/>
          </a:solidFill>
          <a:ln w="12700">
            <a:solidFill>
              <a:srgbClr val="00BC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12680" y="50292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B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× 4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542032" cy="2286000"/>
          </a:xfrm>
          <a:prstGeom prst="roundRect">
            <a:avLst>
              <a:gd name="adj" fmla="val 4800"/>
            </a:avLst>
          </a:prstGeom>
          <a:solidFill>
            <a:srgbClr val="0F2036"/>
          </a:solidFill>
          <a:ln w="12700">
            <a:solidFill>
              <a:srgbClr val="20374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68096" y="19842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00B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68096" y="2313432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EE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pain point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68096" y="3136392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B9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sense of the customer’s concern.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054096" y="1783080"/>
            <a:ext cx="32918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B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419856" y="1783080"/>
            <a:ext cx="2542032" cy="2286000"/>
          </a:xfrm>
          <a:prstGeom prst="roundRect">
            <a:avLst>
              <a:gd name="adj" fmla="val 4800"/>
            </a:avLst>
          </a:prstGeom>
          <a:solidFill>
            <a:srgbClr val="0F2036"/>
          </a:solidFill>
          <a:ln w="12700">
            <a:solidFill>
              <a:srgbClr val="20374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39312" y="19842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00B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39312" y="2313432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EE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product + platform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3639312" y="3136392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B9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right Cisco solution.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925312" y="1783080"/>
            <a:ext cx="32918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B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291072" y="1783080"/>
            <a:ext cx="2542032" cy="2286000"/>
          </a:xfrm>
          <a:prstGeom prst="roundRect">
            <a:avLst>
              <a:gd name="adj" fmla="val 4800"/>
            </a:avLst>
          </a:prstGeom>
          <a:solidFill>
            <a:srgbClr val="0F2036"/>
          </a:solidFill>
          <a:ln w="12700">
            <a:solidFill>
              <a:srgbClr val="20374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10528" y="19842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00B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10528" y="2313432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EE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SE explanation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510528" y="3136392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B9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Justify how it helps and the value.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796528" y="1783080"/>
            <a:ext cx="32918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B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9162288" y="1783080"/>
            <a:ext cx="2542032" cy="2286000"/>
          </a:xfrm>
          <a:prstGeom prst="roundRect">
            <a:avLst>
              <a:gd name="adj" fmla="val 4800"/>
            </a:avLst>
          </a:prstGeom>
          <a:solidFill>
            <a:srgbClr val="0F2036"/>
          </a:solidFill>
          <a:ln w="12700">
            <a:solidFill>
              <a:srgbClr val="20374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381744" y="19842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00B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381744" y="2313432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EE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individually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9381744" y="3136392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B9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learner records their own answer.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4480560"/>
            <a:ext cx="11091672" cy="1097280"/>
          </a:xfrm>
          <a:prstGeom prst="roundRect">
            <a:avLst>
              <a:gd name="adj" fmla="val 8333"/>
            </a:avLst>
          </a:prstGeom>
          <a:solidFill>
            <a:srgbClr val="0B2A3A"/>
          </a:solidFill>
          <a:ln w="12700">
            <a:solidFill>
              <a:srgbClr val="0A6F9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480560"/>
            <a:ext cx="82296" cy="1097280"/>
          </a:xfrm>
          <a:prstGeom prst="roundRect">
            <a:avLst>
              <a:gd name="adj" fmla="val 33333"/>
            </a:avLst>
          </a:prstGeom>
          <a:solidFill>
            <a:srgbClr val="00BCEB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44805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 → you do.  </a:t>
            </a:r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B9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group reasons together (formative, low-stakes); then each learner commits and submits their own answer (individual evidence). Repeating across four cases builds retrieval practice and confidence.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6439814"/>
            <a:ext cx="14630" cy="34138"/>
          </a:xfrm>
          <a:prstGeom prst="roundRect">
            <a:avLst>
              <a:gd name="adj" fmla="val 50001"/>
            </a:avLst>
          </a:prstGeom>
          <a:solidFill>
            <a:srgbClr val="00BCEB"/>
          </a:solidFill>
          <a:ln/>
        </p:spPr>
      </p:sp>
      <p:sp>
        <p:nvSpPr>
          <p:cNvPr id="29" name="Shape 27"/>
          <p:cNvSpPr/>
          <p:nvPr/>
        </p:nvSpPr>
        <p:spPr>
          <a:xfrm>
            <a:off x="573512" y="6420307"/>
            <a:ext cx="14630" cy="53645"/>
          </a:xfrm>
          <a:prstGeom prst="roundRect">
            <a:avLst>
              <a:gd name="adj" fmla="val 50001"/>
            </a:avLst>
          </a:prstGeom>
          <a:solidFill>
            <a:srgbClr val="00BCEB"/>
          </a:solidFill>
          <a:ln/>
        </p:spPr>
      </p:sp>
      <p:sp>
        <p:nvSpPr>
          <p:cNvPr id="30" name="Shape 28"/>
          <p:cNvSpPr/>
          <p:nvPr/>
        </p:nvSpPr>
        <p:spPr>
          <a:xfrm>
            <a:off x="598383" y="6395923"/>
            <a:ext cx="14630" cy="78029"/>
          </a:xfrm>
          <a:prstGeom prst="roundRect">
            <a:avLst>
              <a:gd name="adj" fmla="val 50001"/>
            </a:avLst>
          </a:prstGeom>
          <a:solidFill>
            <a:srgbClr val="00BCEB"/>
          </a:solidFill>
          <a:ln/>
        </p:spPr>
      </p:sp>
      <p:sp>
        <p:nvSpPr>
          <p:cNvPr id="31" name="Shape 29"/>
          <p:cNvSpPr/>
          <p:nvPr/>
        </p:nvSpPr>
        <p:spPr>
          <a:xfrm>
            <a:off x="623255" y="6366662"/>
            <a:ext cx="14630" cy="107290"/>
          </a:xfrm>
          <a:prstGeom prst="roundRect">
            <a:avLst>
              <a:gd name="adj" fmla="val 50001"/>
            </a:avLst>
          </a:prstGeom>
          <a:solidFill>
            <a:srgbClr val="00BCEB"/>
          </a:solidFill>
          <a:ln/>
        </p:spPr>
      </p:sp>
      <p:sp>
        <p:nvSpPr>
          <p:cNvPr id="32" name="Shape 30"/>
          <p:cNvSpPr/>
          <p:nvPr/>
        </p:nvSpPr>
        <p:spPr>
          <a:xfrm>
            <a:off x="648127" y="6342278"/>
            <a:ext cx="14630" cy="131674"/>
          </a:xfrm>
          <a:prstGeom prst="roundRect">
            <a:avLst>
              <a:gd name="adj" fmla="val 50001"/>
            </a:avLst>
          </a:prstGeom>
          <a:solidFill>
            <a:srgbClr val="00BCEB"/>
          </a:solidFill>
          <a:ln/>
        </p:spPr>
      </p:sp>
      <p:sp>
        <p:nvSpPr>
          <p:cNvPr id="33" name="Shape 31"/>
          <p:cNvSpPr/>
          <p:nvPr/>
        </p:nvSpPr>
        <p:spPr>
          <a:xfrm>
            <a:off x="672998" y="6327648"/>
            <a:ext cx="14630" cy="146304"/>
          </a:xfrm>
          <a:prstGeom prst="roundRect">
            <a:avLst>
              <a:gd name="adj" fmla="val 50001"/>
            </a:avLst>
          </a:prstGeom>
          <a:solidFill>
            <a:srgbClr val="00BCEB"/>
          </a:solidFill>
          <a:ln/>
        </p:spPr>
      </p:sp>
      <p:sp>
        <p:nvSpPr>
          <p:cNvPr id="34" name="Shape 32"/>
          <p:cNvSpPr/>
          <p:nvPr/>
        </p:nvSpPr>
        <p:spPr>
          <a:xfrm>
            <a:off x="697870" y="6342278"/>
            <a:ext cx="14630" cy="131674"/>
          </a:xfrm>
          <a:prstGeom prst="roundRect">
            <a:avLst>
              <a:gd name="adj" fmla="val 50001"/>
            </a:avLst>
          </a:prstGeom>
          <a:solidFill>
            <a:srgbClr val="00BCEB"/>
          </a:solidFill>
          <a:ln/>
        </p:spPr>
      </p:sp>
      <p:sp>
        <p:nvSpPr>
          <p:cNvPr id="35" name="Shape 33"/>
          <p:cNvSpPr/>
          <p:nvPr/>
        </p:nvSpPr>
        <p:spPr>
          <a:xfrm>
            <a:off x="722742" y="6366662"/>
            <a:ext cx="14630" cy="107290"/>
          </a:xfrm>
          <a:prstGeom prst="roundRect">
            <a:avLst>
              <a:gd name="adj" fmla="val 50001"/>
            </a:avLst>
          </a:prstGeom>
          <a:solidFill>
            <a:srgbClr val="00BCEB"/>
          </a:solidFill>
          <a:ln/>
        </p:spPr>
      </p:sp>
      <p:sp>
        <p:nvSpPr>
          <p:cNvPr id="36" name="Shape 34"/>
          <p:cNvSpPr/>
          <p:nvPr/>
        </p:nvSpPr>
        <p:spPr>
          <a:xfrm>
            <a:off x="747613" y="6395923"/>
            <a:ext cx="14630" cy="78029"/>
          </a:xfrm>
          <a:prstGeom prst="roundRect">
            <a:avLst>
              <a:gd name="adj" fmla="val 50001"/>
            </a:avLst>
          </a:prstGeom>
          <a:solidFill>
            <a:srgbClr val="00BCEB"/>
          </a:solidFill>
          <a:ln/>
        </p:spPr>
      </p:sp>
      <p:sp>
        <p:nvSpPr>
          <p:cNvPr id="37" name="Shape 35"/>
          <p:cNvSpPr/>
          <p:nvPr/>
        </p:nvSpPr>
        <p:spPr>
          <a:xfrm>
            <a:off x="772485" y="6420307"/>
            <a:ext cx="14630" cy="53645"/>
          </a:xfrm>
          <a:prstGeom prst="roundRect">
            <a:avLst>
              <a:gd name="adj" fmla="val 50001"/>
            </a:avLst>
          </a:prstGeom>
          <a:solidFill>
            <a:srgbClr val="00BCEB"/>
          </a:solidFill>
          <a:ln/>
        </p:spPr>
      </p:sp>
      <p:sp>
        <p:nvSpPr>
          <p:cNvPr id="38" name="Shape 36"/>
          <p:cNvSpPr/>
          <p:nvPr/>
        </p:nvSpPr>
        <p:spPr>
          <a:xfrm>
            <a:off x="797357" y="6439814"/>
            <a:ext cx="14630" cy="34138"/>
          </a:xfrm>
          <a:prstGeom prst="roundRect">
            <a:avLst>
              <a:gd name="adj" fmla="val 50001"/>
            </a:avLst>
          </a:prstGeom>
          <a:solidFill>
            <a:srgbClr val="00BCEB"/>
          </a:solidFill>
          <a:ln/>
        </p:spPr>
      </p:sp>
      <p:sp>
        <p:nvSpPr>
          <p:cNvPr id="39" name="Text 37"/>
          <p:cNvSpPr/>
          <p:nvPr/>
        </p:nvSpPr>
        <p:spPr>
          <a:xfrm>
            <a:off x="871972" y="62544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E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365016" y="627278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4" b="1" spc="150" kern="0" dirty="0">
                <a:solidFill>
                  <a:srgbClr val="00B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504" dirty="0"/>
          </a:p>
        </p:txBody>
      </p:sp>
      <p:sp>
        <p:nvSpPr>
          <p:cNvPr id="41" name="Text 39"/>
          <p:cNvSpPr/>
          <p:nvPr/>
        </p:nvSpPr>
        <p:spPr>
          <a:xfrm>
            <a:off x="7315200" y="6272784"/>
            <a:ext cx="4325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HMF Design Clinic · Instructional Guide  ·  5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6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E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&amp; success criteria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4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counts as evidence — and what growing mastery looks like.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0F2036"/>
          </a:solidFill>
          <a:ln w="15875">
            <a:solidFill>
              <a:srgbClr val="124A5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62763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E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answers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B9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+ platform + the SE response for each pain point.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4871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&amp; application   </a:t>
            </a:r>
            <a:pPr algn="l" indent="0" marL="0">
              <a:buNone/>
            </a:pPr>
            <a:r>
              <a:rPr lang="en-US" sz="1100" dirty="0">
                <a:solidFill>
                  <a:srgbClr val="84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Moodle, auto-scored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45352" y="1463040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0F2036"/>
          </a:solidFill>
          <a:ln w="15875">
            <a:solidFill>
              <a:srgbClr val="1E6E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19672" y="162763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E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 upload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19672" y="20116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B9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cumulative, customer-ready diagram per learner.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19672" y="24871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FB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&amp; authentic performance   </a:t>
            </a:r>
            <a:pPr algn="l" indent="0" marL="0">
              <a:buNone/>
            </a:pPr>
            <a:r>
              <a:rPr lang="en-US" sz="1100" dirty="0">
                <a:solidFill>
                  <a:srgbClr val="84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Moodle, auto-scored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063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4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PROFICIENCY LADDER  —  what good looks like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3566160" cy="1600200"/>
          </a:xfrm>
          <a:prstGeom prst="roundRect">
            <a:avLst>
              <a:gd name="adj" fmla="val 6857"/>
            </a:avLst>
          </a:prstGeom>
          <a:solidFill>
            <a:srgbClr val="0F2036"/>
          </a:solidFill>
          <a:ln w="19050">
            <a:solidFill>
              <a:srgbClr val="3A465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" y="368503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9FB0C6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17320" y="368503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E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Explorer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04672" y="427024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B9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— spots the pain points and names plausible products.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096512" y="3429000"/>
            <a:ext cx="20116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4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4315968" y="3429000"/>
            <a:ext cx="3566160" cy="1600200"/>
          </a:xfrm>
          <a:prstGeom prst="roundRect">
            <a:avLst>
              <a:gd name="adj" fmla="val 6857"/>
            </a:avLst>
          </a:prstGeom>
          <a:solidFill>
            <a:srgbClr val="0F2036"/>
          </a:solidFill>
          <a:ln w="19050">
            <a:solidFill>
              <a:srgbClr val="124A5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0" y="368503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0BCEB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0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184648" y="368503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B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Builder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72000" y="427024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B9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— maps the right product + platform and explains the value.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863840" y="3429000"/>
            <a:ext cx="20116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4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8083296" y="3429000"/>
            <a:ext cx="3566160" cy="1600200"/>
          </a:xfrm>
          <a:prstGeom prst="roundRect">
            <a:avLst>
              <a:gd name="adj" fmla="val 6857"/>
            </a:avLst>
          </a:prstGeom>
          <a:solidFill>
            <a:srgbClr val="0F2036"/>
          </a:solidFill>
          <a:ln w="19050">
            <a:solidFill>
              <a:srgbClr val="6A521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339328" y="368503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C663"/>
          </a:solidFill>
          <a:ln/>
        </p:spPr>
      </p:sp>
      <p:sp>
        <p:nvSpPr>
          <p:cNvPr id="27" name="Text 25"/>
          <p:cNvSpPr/>
          <p:nvPr/>
        </p:nvSpPr>
        <p:spPr>
          <a:xfrm>
            <a:off x="8339328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951976" y="368503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C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Strategist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339328" y="427024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B9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— articulates SE value and a coherent cumulative topology.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48640" y="5257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84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is formative (safe to be wrong); the individual answers and the topology are summative — auto-scored in Moodle, which returns feedback.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6439814"/>
            <a:ext cx="14630" cy="34138"/>
          </a:xfrm>
          <a:prstGeom prst="roundRect">
            <a:avLst>
              <a:gd name="adj" fmla="val 50001"/>
            </a:avLst>
          </a:prstGeom>
          <a:solidFill>
            <a:srgbClr val="00BCEB"/>
          </a:solidFill>
          <a:ln/>
        </p:spPr>
      </p:sp>
      <p:sp>
        <p:nvSpPr>
          <p:cNvPr id="32" name="Shape 30"/>
          <p:cNvSpPr/>
          <p:nvPr/>
        </p:nvSpPr>
        <p:spPr>
          <a:xfrm>
            <a:off x="573512" y="6420307"/>
            <a:ext cx="14630" cy="53645"/>
          </a:xfrm>
          <a:prstGeom prst="roundRect">
            <a:avLst>
              <a:gd name="adj" fmla="val 50001"/>
            </a:avLst>
          </a:prstGeom>
          <a:solidFill>
            <a:srgbClr val="00BCEB"/>
          </a:solidFill>
          <a:ln/>
        </p:spPr>
      </p:sp>
      <p:sp>
        <p:nvSpPr>
          <p:cNvPr id="33" name="Shape 31"/>
          <p:cNvSpPr/>
          <p:nvPr/>
        </p:nvSpPr>
        <p:spPr>
          <a:xfrm>
            <a:off x="598383" y="6395923"/>
            <a:ext cx="14630" cy="78029"/>
          </a:xfrm>
          <a:prstGeom prst="roundRect">
            <a:avLst>
              <a:gd name="adj" fmla="val 50001"/>
            </a:avLst>
          </a:prstGeom>
          <a:solidFill>
            <a:srgbClr val="00BCEB"/>
          </a:solidFill>
          <a:ln/>
        </p:spPr>
      </p:sp>
      <p:sp>
        <p:nvSpPr>
          <p:cNvPr id="34" name="Shape 32"/>
          <p:cNvSpPr/>
          <p:nvPr/>
        </p:nvSpPr>
        <p:spPr>
          <a:xfrm>
            <a:off x="623255" y="6366662"/>
            <a:ext cx="14630" cy="107290"/>
          </a:xfrm>
          <a:prstGeom prst="roundRect">
            <a:avLst>
              <a:gd name="adj" fmla="val 50001"/>
            </a:avLst>
          </a:prstGeom>
          <a:solidFill>
            <a:srgbClr val="00BCEB"/>
          </a:solidFill>
          <a:ln/>
        </p:spPr>
      </p:sp>
      <p:sp>
        <p:nvSpPr>
          <p:cNvPr id="35" name="Shape 33"/>
          <p:cNvSpPr/>
          <p:nvPr/>
        </p:nvSpPr>
        <p:spPr>
          <a:xfrm>
            <a:off x="648127" y="6342278"/>
            <a:ext cx="14630" cy="131674"/>
          </a:xfrm>
          <a:prstGeom prst="roundRect">
            <a:avLst>
              <a:gd name="adj" fmla="val 50001"/>
            </a:avLst>
          </a:prstGeom>
          <a:solidFill>
            <a:srgbClr val="00BCEB"/>
          </a:solidFill>
          <a:ln/>
        </p:spPr>
      </p:sp>
      <p:sp>
        <p:nvSpPr>
          <p:cNvPr id="36" name="Shape 34"/>
          <p:cNvSpPr/>
          <p:nvPr/>
        </p:nvSpPr>
        <p:spPr>
          <a:xfrm>
            <a:off x="672998" y="6327648"/>
            <a:ext cx="14630" cy="146304"/>
          </a:xfrm>
          <a:prstGeom prst="roundRect">
            <a:avLst>
              <a:gd name="adj" fmla="val 50001"/>
            </a:avLst>
          </a:prstGeom>
          <a:solidFill>
            <a:srgbClr val="00BCEB"/>
          </a:solidFill>
          <a:ln/>
        </p:spPr>
      </p:sp>
      <p:sp>
        <p:nvSpPr>
          <p:cNvPr id="37" name="Shape 35"/>
          <p:cNvSpPr/>
          <p:nvPr/>
        </p:nvSpPr>
        <p:spPr>
          <a:xfrm>
            <a:off x="697870" y="6342278"/>
            <a:ext cx="14630" cy="131674"/>
          </a:xfrm>
          <a:prstGeom prst="roundRect">
            <a:avLst>
              <a:gd name="adj" fmla="val 50001"/>
            </a:avLst>
          </a:prstGeom>
          <a:solidFill>
            <a:srgbClr val="00BCEB"/>
          </a:solidFill>
          <a:ln/>
        </p:spPr>
      </p:sp>
      <p:sp>
        <p:nvSpPr>
          <p:cNvPr id="38" name="Shape 36"/>
          <p:cNvSpPr/>
          <p:nvPr/>
        </p:nvSpPr>
        <p:spPr>
          <a:xfrm>
            <a:off x="722742" y="6366662"/>
            <a:ext cx="14630" cy="107290"/>
          </a:xfrm>
          <a:prstGeom prst="roundRect">
            <a:avLst>
              <a:gd name="adj" fmla="val 50001"/>
            </a:avLst>
          </a:prstGeom>
          <a:solidFill>
            <a:srgbClr val="00BCEB"/>
          </a:solidFill>
          <a:ln/>
        </p:spPr>
      </p:sp>
      <p:sp>
        <p:nvSpPr>
          <p:cNvPr id="39" name="Shape 37"/>
          <p:cNvSpPr/>
          <p:nvPr/>
        </p:nvSpPr>
        <p:spPr>
          <a:xfrm>
            <a:off x="747613" y="6395923"/>
            <a:ext cx="14630" cy="78029"/>
          </a:xfrm>
          <a:prstGeom prst="roundRect">
            <a:avLst>
              <a:gd name="adj" fmla="val 50001"/>
            </a:avLst>
          </a:prstGeom>
          <a:solidFill>
            <a:srgbClr val="00BCEB"/>
          </a:solidFill>
          <a:ln/>
        </p:spPr>
      </p:sp>
      <p:sp>
        <p:nvSpPr>
          <p:cNvPr id="40" name="Shape 38"/>
          <p:cNvSpPr/>
          <p:nvPr/>
        </p:nvSpPr>
        <p:spPr>
          <a:xfrm>
            <a:off x="772485" y="6420307"/>
            <a:ext cx="14630" cy="53645"/>
          </a:xfrm>
          <a:prstGeom prst="roundRect">
            <a:avLst>
              <a:gd name="adj" fmla="val 50001"/>
            </a:avLst>
          </a:prstGeom>
          <a:solidFill>
            <a:srgbClr val="00BCEB"/>
          </a:solidFill>
          <a:ln/>
        </p:spPr>
      </p:sp>
      <p:sp>
        <p:nvSpPr>
          <p:cNvPr id="41" name="Shape 39"/>
          <p:cNvSpPr/>
          <p:nvPr/>
        </p:nvSpPr>
        <p:spPr>
          <a:xfrm>
            <a:off x="797357" y="6439814"/>
            <a:ext cx="14630" cy="34138"/>
          </a:xfrm>
          <a:prstGeom prst="roundRect">
            <a:avLst>
              <a:gd name="adj" fmla="val 50001"/>
            </a:avLst>
          </a:prstGeom>
          <a:solidFill>
            <a:srgbClr val="00BCEB"/>
          </a:solidFill>
          <a:ln/>
        </p:spPr>
      </p:sp>
      <p:sp>
        <p:nvSpPr>
          <p:cNvPr id="42" name="Text 40"/>
          <p:cNvSpPr/>
          <p:nvPr/>
        </p:nvSpPr>
        <p:spPr>
          <a:xfrm>
            <a:off x="871972" y="62544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E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365016" y="627278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4" b="1" spc="150" kern="0" dirty="0">
                <a:solidFill>
                  <a:srgbClr val="00B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504" dirty="0"/>
          </a:p>
        </p:txBody>
      </p:sp>
      <p:sp>
        <p:nvSpPr>
          <p:cNvPr id="44" name="Text 42"/>
          <p:cNvSpPr/>
          <p:nvPr/>
        </p:nvSpPr>
        <p:spPr>
          <a:xfrm>
            <a:off x="7315200" y="6272784"/>
            <a:ext cx="4325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HMF Design Clinic · Instructional Guide  ·  6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6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E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Facilitation: guide on the side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4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the thinking; don’t hand out the answers.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02152" cy="2240280"/>
          </a:xfrm>
          <a:prstGeom prst="roundRect">
            <a:avLst>
              <a:gd name="adj" fmla="val 4898"/>
            </a:avLst>
          </a:prstGeom>
          <a:solidFill>
            <a:srgbClr val="0F2036"/>
          </a:solidFill>
          <a:ln w="12700">
            <a:solidFill>
              <a:srgbClr val="20374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64208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0B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4672" y="2121408"/>
            <a:ext cx="302666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00B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algn="l" indent="0" marL="0">
              <a:lnSpc>
                <a:spcPct val="10200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B9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Moodle &amp; the groups.</a:t>
            </a:r>
            <a:endParaRPr lang="en-US" sz="13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00B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algn="l" indent="0" marL="0">
              <a:lnSpc>
                <a:spcPct val="10200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B9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objective &amp; success.</a:t>
            </a:r>
            <a:endParaRPr lang="en-US" sz="13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00B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algn="l" indent="0" marL="0">
              <a:lnSpc>
                <a:spcPct val="10200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B9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45-minute clock.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1463040"/>
            <a:ext cx="3502152" cy="2240280"/>
          </a:xfrm>
          <a:prstGeom prst="roundRect">
            <a:avLst>
              <a:gd name="adj" fmla="val 4898"/>
            </a:avLst>
          </a:prstGeom>
          <a:solidFill>
            <a:srgbClr val="0F2036"/>
          </a:solidFill>
          <a:ln w="12700">
            <a:solidFill>
              <a:srgbClr val="20374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99432" y="1664208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2FB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99432" y="2121408"/>
            <a:ext cx="302666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FB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algn="l" indent="0" marL="0">
              <a:lnSpc>
                <a:spcPct val="10200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B9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Circulate; ask “why this?”.</a:t>
            </a:r>
            <a:endParaRPr lang="en-US" sz="13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FB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algn="l" indent="0" marL="0">
              <a:lnSpc>
                <a:spcPct val="10200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B9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~6 min per case.</a:t>
            </a:r>
            <a:endParaRPr lang="en-US" sz="13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FB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algn="l" indent="0" marL="0">
              <a:lnSpc>
                <a:spcPct val="10200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B9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safe; all submit.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38160" y="1463040"/>
            <a:ext cx="3502152" cy="2240280"/>
          </a:xfrm>
          <a:prstGeom prst="roundRect">
            <a:avLst>
              <a:gd name="adj" fmla="val 4898"/>
            </a:avLst>
          </a:prstGeom>
          <a:solidFill>
            <a:srgbClr val="0F2036"/>
          </a:solidFill>
          <a:ln w="12700">
            <a:solidFill>
              <a:srgbClr val="20374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94192" y="1664208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0A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394192" y="2121408"/>
            <a:ext cx="302666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0A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algn="l" indent="0" marL="0">
              <a:lnSpc>
                <a:spcPct val="10200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B9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all evidence is in.</a:t>
            </a:r>
            <a:endParaRPr lang="en-US" sz="13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0A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algn="l" indent="0" marL="0">
              <a:lnSpc>
                <a:spcPct val="10200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B9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a quick reflection.</a:t>
            </a:r>
            <a:endParaRPr lang="en-US" sz="13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0A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algn="l" indent="0" marL="0">
              <a:lnSpc>
                <a:spcPct val="10200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B9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one or two exemplars.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5394960" cy="1645920"/>
          </a:xfrm>
          <a:prstGeom prst="roundRect">
            <a:avLst>
              <a:gd name="adj" fmla="val 6667"/>
            </a:avLst>
          </a:prstGeom>
          <a:solidFill>
            <a:srgbClr val="0C2A20"/>
          </a:solidFill>
          <a:ln w="15875">
            <a:solidFill>
              <a:srgbClr val="1E6E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431596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FB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04672" y="4736592"/>
            <a:ext cx="4919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FB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algn="l" indent="0" marL="0">
              <a:lnSpc>
                <a:spcPct val="100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B9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probing questions.</a:t>
            </a:r>
            <a:endParaRPr lang="en-US" sz="12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FB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algn="l" indent="0" marL="0">
              <a:lnSpc>
                <a:spcPct val="100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B9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Time-box each case.</a:t>
            </a:r>
            <a:endParaRPr lang="en-US" sz="12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FB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algn="l" indent="0" marL="0">
              <a:lnSpc>
                <a:spcPct val="100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B9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Insist on individual answers.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45352" y="4114800"/>
            <a:ext cx="5394960" cy="1645920"/>
          </a:xfrm>
          <a:prstGeom prst="roundRect">
            <a:avLst>
              <a:gd name="adj" fmla="val 6667"/>
            </a:avLst>
          </a:prstGeom>
          <a:solidFill>
            <a:srgbClr val="2A1414"/>
          </a:solidFill>
          <a:ln w="15875">
            <a:solidFill>
              <a:srgbClr val="6A2E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01384" y="431596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E06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01384" y="4736592"/>
            <a:ext cx="4919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06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algn="l" indent="0" marL="0">
              <a:lnSpc>
                <a:spcPct val="100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B9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Handing out the answers.</a:t>
            </a:r>
            <a:endParaRPr lang="en-US" sz="12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06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algn="l" indent="0" marL="0">
              <a:lnSpc>
                <a:spcPct val="100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B9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Letting one voice dominate.</a:t>
            </a:r>
            <a:endParaRPr lang="en-US" sz="12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06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algn="l" indent="0" marL="0">
              <a:lnSpc>
                <a:spcPct val="100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B9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the topology.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6439814"/>
            <a:ext cx="14630" cy="34138"/>
          </a:xfrm>
          <a:prstGeom prst="roundRect">
            <a:avLst>
              <a:gd name="adj" fmla="val 50001"/>
            </a:avLst>
          </a:prstGeom>
          <a:solidFill>
            <a:srgbClr val="00BCEB"/>
          </a:solidFill>
          <a:ln/>
        </p:spPr>
      </p:sp>
      <p:sp>
        <p:nvSpPr>
          <p:cNvPr id="20" name="Shape 18"/>
          <p:cNvSpPr/>
          <p:nvPr/>
        </p:nvSpPr>
        <p:spPr>
          <a:xfrm>
            <a:off x="573512" y="6420307"/>
            <a:ext cx="14630" cy="53645"/>
          </a:xfrm>
          <a:prstGeom prst="roundRect">
            <a:avLst>
              <a:gd name="adj" fmla="val 50001"/>
            </a:avLst>
          </a:prstGeom>
          <a:solidFill>
            <a:srgbClr val="00BCEB"/>
          </a:solidFill>
          <a:ln/>
        </p:spPr>
      </p:sp>
      <p:sp>
        <p:nvSpPr>
          <p:cNvPr id="21" name="Shape 19"/>
          <p:cNvSpPr/>
          <p:nvPr/>
        </p:nvSpPr>
        <p:spPr>
          <a:xfrm>
            <a:off x="598383" y="6395923"/>
            <a:ext cx="14630" cy="78029"/>
          </a:xfrm>
          <a:prstGeom prst="roundRect">
            <a:avLst>
              <a:gd name="adj" fmla="val 50001"/>
            </a:avLst>
          </a:prstGeom>
          <a:solidFill>
            <a:srgbClr val="00BCEB"/>
          </a:solidFill>
          <a:ln/>
        </p:spPr>
      </p:sp>
      <p:sp>
        <p:nvSpPr>
          <p:cNvPr id="22" name="Shape 20"/>
          <p:cNvSpPr/>
          <p:nvPr/>
        </p:nvSpPr>
        <p:spPr>
          <a:xfrm>
            <a:off x="623255" y="6366662"/>
            <a:ext cx="14630" cy="107290"/>
          </a:xfrm>
          <a:prstGeom prst="roundRect">
            <a:avLst>
              <a:gd name="adj" fmla="val 50001"/>
            </a:avLst>
          </a:prstGeom>
          <a:solidFill>
            <a:srgbClr val="00BCEB"/>
          </a:solidFill>
          <a:ln/>
        </p:spPr>
      </p:sp>
      <p:sp>
        <p:nvSpPr>
          <p:cNvPr id="23" name="Shape 21"/>
          <p:cNvSpPr/>
          <p:nvPr/>
        </p:nvSpPr>
        <p:spPr>
          <a:xfrm>
            <a:off x="648127" y="6342278"/>
            <a:ext cx="14630" cy="131674"/>
          </a:xfrm>
          <a:prstGeom prst="roundRect">
            <a:avLst>
              <a:gd name="adj" fmla="val 50001"/>
            </a:avLst>
          </a:prstGeom>
          <a:solidFill>
            <a:srgbClr val="00BCEB"/>
          </a:solidFill>
          <a:ln/>
        </p:spPr>
      </p:sp>
      <p:sp>
        <p:nvSpPr>
          <p:cNvPr id="24" name="Shape 22"/>
          <p:cNvSpPr/>
          <p:nvPr/>
        </p:nvSpPr>
        <p:spPr>
          <a:xfrm>
            <a:off x="672998" y="6327648"/>
            <a:ext cx="14630" cy="146304"/>
          </a:xfrm>
          <a:prstGeom prst="roundRect">
            <a:avLst>
              <a:gd name="adj" fmla="val 50001"/>
            </a:avLst>
          </a:prstGeom>
          <a:solidFill>
            <a:srgbClr val="00BCEB"/>
          </a:solidFill>
          <a:ln/>
        </p:spPr>
      </p:sp>
      <p:sp>
        <p:nvSpPr>
          <p:cNvPr id="25" name="Shape 23"/>
          <p:cNvSpPr/>
          <p:nvPr/>
        </p:nvSpPr>
        <p:spPr>
          <a:xfrm>
            <a:off x="697870" y="6342278"/>
            <a:ext cx="14630" cy="131674"/>
          </a:xfrm>
          <a:prstGeom prst="roundRect">
            <a:avLst>
              <a:gd name="adj" fmla="val 50001"/>
            </a:avLst>
          </a:prstGeom>
          <a:solidFill>
            <a:srgbClr val="00BCEB"/>
          </a:solidFill>
          <a:ln/>
        </p:spPr>
      </p:sp>
      <p:sp>
        <p:nvSpPr>
          <p:cNvPr id="26" name="Shape 24"/>
          <p:cNvSpPr/>
          <p:nvPr/>
        </p:nvSpPr>
        <p:spPr>
          <a:xfrm>
            <a:off x="722742" y="6366662"/>
            <a:ext cx="14630" cy="107290"/>
          </a:xfrm>
          <a:prstGeom prst="roundRect">
            <a:avLst>
              <a:gd name="adj" fmla="val 50001"/>
            </a:avLst>
          </a:prstGeom>
          <a:solidFill>
            <a:srgbClr val="00BCEB"/>
          </a:solidFill>
          <a:ln/>
        </p:spPr>
      </p:sp>
      <p:sp>
        <p:nvSpPr>
          <p:cNvPr id="27" name="Shape 25"/>
          <p:cNvSpPr/>
          <p:nvPr/>
        </p:nvSpPr>
        <p:spPr>
          <a:xfrm>
            <a:off x="747613" y="6395923"/>
            <a:ext cx="14630" cy="78029"/>
          </a:xfrm>
          <a:prstGeom prst="roundRect">
            <a:avLst>
              <a:gd name="adj" fmla="val 50001"/>
            </a:avLst>
          </a:prstGeom>
          <a:solidFill>
            <a:srgbClr val="00BCEB"/>
          </a:solidFill>
          <a:ln/>
        </p:spPr>
      </p:sp>
      <p:sp>
        <p:nvSpPr>
          <p:cNvPr id="28" name="Shape 26"/>
          <p:cNvSpPr/>
          <p:nvPr/>
        </p:nvSpPr>
        <p:spPr>
          <a:xfrm>
            <a:off x="772485" y="6420307"/>
            <a:ext cx="14630" cy="53645"/>
          </a:xfrm>
          <a:prstGeom prst="roundRect">
            <a:avLst>
              <a:gd name="adj" fmla="val 50001"/>
            </a:avLst>
          </a:prstGeom>
          <a:solidFill>
            <a:srgbClr val="00BCEB"/>
          </a:solidFill>
          <a:ln/>
        </p:spPr>
      </p:sp>
      <p:sp>
        <p:nvSpPr>
          <p:cNvPr id="29" name="Shape 27"/>
          <p:cNvSpPr/>
          <p:nvPr/>
        </p:nvSpPr>
        <p:spPr>
          <a:xfrm>
            <a:off x="797357" y="6439814"/>
            <a:ext cx="14630" cy="34138"/>
          </a:xfrm>
          <a:prstGeom prst="roundRect">
            <a:avLst>
              <a:gd name="adj" fmla="val 50001"/>
            </a:avLst>
          </a:prstGeom>
          <a:solidFill>
            <a:srgbClr val="00BCEB"/>
          </a:solidFill>
          <a:ln/>
        </p:spPr>
      </p:sp>
      <p:sp>
        <p:nvSpPr>
          <p:cNvPr id="30" name="Text 28"/>
          <p:cNvSpPr/>
          <p:nvPr/>
        </p:nvSpPr>
        <p:spPr>
          <a:xfrm>
            <a:off x="871972" y="62544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E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365016" y="627278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4" b="1" spc="150" kern="0" dirty="0">
                <a:solidFill>
                  <a:srgbClr val="00B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504" dirty="0"/>
          </a:p>
        </p:txBody>
      </p:sp>
      <p:sp>
        <p:nvSpPr>
          <p:cNvPr id="32" name="Text 30"/>
          <p:cNvSpPr/>
          <p:nvPr/>
        </p:nvSpPr>
        <p:spPr>
          <a:xfrm>
            <a:off x="7315200" y="6272784"/>
            <a:ext cx="4325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HMF Design Clinic · Instructional Guide  ·  7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6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E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Materials, setup &amp; access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4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need in the room — plus where learners go.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0" cy="2423160"/>
          </a:xfrm>
          <a:prstGeom prst="roundRect">
            <a:avLst>
              <a:gd name="adj" fmla="val 5283"/>
            </a:avLst>
          </a:prstGeom>
          <a:solidFill>
            <a:srgbClr val="0F2036"/>
          </a:solidFill>
          <a:ln w="12700">
            <a:solidFill>
              <a:srgbClr val="20374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66420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B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MATERIALS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2084832"/>
            <a:ext cx="4937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2FB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algn="l"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B9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set for groups of 2–4.</a:t>
            </a:r>
            <a:endParaRPr lang="en-US" sz="13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2FB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algn="l"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B9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device per participant.</a:t>
            </a:r>
            <a:endParaRPr lang="en-US" sz="13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2FB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algn="l"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B9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flipchart + markers per table.</a:t>
            </a:r>
            <a:endParaRPr lang="en-US" sz="13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2FB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algn="l"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B9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Circuit Image Convertor.</a:t>
            </a:r>
            <a:endParaRPr lang="en-US" sz="13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2FB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algn="l"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B9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automatically in Moodle.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45352" y="1463040"/>
            <a:ext cx="5394960" cy="1371600"/>
          </a:xfrm>
          <a:prstGeom prst="roundRect">
            <a:avLst>
              <a:gd name="adj" fmla="val 9333"/>
            </a:avLst>
          </a:prstGeom>
          <a:solidFill>
            <a:srgbClr val="0F2036"/>
          </a:solidFill>
          <a:ln w="12700">
            <a:solidFill>
              <a:srgbClr val="20374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73952" y="1600200"/>
            <a:ext cx="109728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6528816" y="1655064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0" name="Shape 8"/>
          <p:cNvSpPr/>
          <p:nvPr/>
        </p:nvSpPr>
        <p:spPr>
          <a:xfrm>
            <a:off x="6575842" y="1655064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1" name="Shape 9"/>
          <p:cNvSpPr/>
          <p:nvPr/>
        </p:nvSpPr>
        <p:spPr>
          <a:xfrm>
            <a:off x="6622869" y="1655064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2" name="Shape 10"/>
          <p:cNvSpPr/>
          <p:nvPr/>
        </p:nvSpPr>
        <p:spPr>
          <a:xfrm>
            <a:off x="6669895" y="1655064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3" name="Shape 11"/>
          <p:cNvSpPr/>
          <p:nvPr/>
        </p:nvSpPr>
        <p:spPr>
          <a:xfrm>
            <a:off x="6716921" y="1655064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4" name="Shape 12"/>
          <p:cNvSpPr/>
          <p:nvPr/>
        </p:nvSpPr>
        <p:spPr>
          <a:xfrm>
            <a:off x="6763947" y="1655064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5" name="Shape 13"/>
          <p:cNvSpPr/>
          <p:nvPr/>
        </p:nvSpPr>
        <p:spPr>
          <a:xfrm>
            <a:off x="6810974" y="1655064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6" name="Shape 14"/>
          <p:cNvSpPr/>
          <p:nvPr/>
        </p:nvSpPr>
        <p:spPr>
          <a:xfrm>
            <a:off x="6905026" y="1655064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7" name="Shape 15"/>
          <p:cNvSpPr/>
          <p:nvPr/>
        </p:nvSpPr>
        <p:spPr>
          <a:xfrm>
            <a:off x="7093131" y="1655064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8" name="Shape 16"/>
          <p:cNvSpPr/>
          <p:nvPr/>
        </p:nvSpPr>
        <p:spPr>
          <a:xfrm>
            <a:off x="7187184" y="1655064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9" name="Shape 17"/>
          <p:cNvSpPr/>
          <p:nvPr/>
        </p:nvSpPr>
        <p:spPr>
          <a:xfrm>
            <a:off x="7234210" y="1655064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20" name="Shape 18"/>
          <p:cNvSpPr/>
          <p:nvPr/>
        </p:nvSpPr>
        <p:spPr>
          <a:xfrm>
            <a:off x="7281237" y="1655064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21" name="Shape 19"/>
          <p:cNvSpPr/>
          <p:nvPr/>
        </p:nvSpPr>
        <p:spPr>
          <a:xfrm>
            <a:off x="7328263" y="1655064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22" name="Shape 20"/>
          <p:cNvSpPr/>
          <p:nvPr/>
        </p:nvSpPr>
        <p:spPr>
          <a:xfrm>
            <a:off x="7375289" y="1655064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23" name="Shape 21"/>
          <p:cNvSpPr/>
          <p:nvPr/>
        </p:nvSpPr>
        <p:spPr>
          <a:xfrm>
            <a:off x="7422315" y="1655064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24" name="Shape 22"/>
          <p:cNvSpPr/>
          <p:nvPr/>
        </p:nvSpPr>
        <p:spPr>
          <a:xfrm>
            <a:off x="7469342" y="1655064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25" name="Shape 23"/>
          <p:cNvSpPr/>
          <p:nvPr/>
        </p:nvSpPr>
        <p:spPr>
          <a:xfrm>
            <a:off x="6528816" y="1702090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26" name="Shape 24"/>
          <p:cNvSpPr/>
          <p:nvPr/>
        </p:nvSpPr>
        <p:spPr>
          <a:xfrm>
            <a:off x="6810974" y="1702090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27" name="Shape 25"/>
          <p:cNvSpPr/>
          <p:nvPr/>
        </p:nvSpPr>
        <p:spPr>
          <a:xfrm>
            <a:off x="7046105" y="1702090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28" name="Shape 26"/>
          <p:cNvSpPr/>
          <p:nvPr/>
        </p:nvSpPr>
        <p:spPr>
          <a:xfrm>
            <a:off x="7187184" y="1702090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29" name="Shape 27"/>
          <p:cNvSpPr/>
          <p:nvPr/>
        </p:nvSpPr>
        <p:spPr>
          <a:xfrm>
            <a:off x="7469342" y="1702090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30" name="Shape 28"/>
          <p:cNvSpPr/>
          <p:nvPr/>
        </p:nvSpPr>
        <p:spPr>
          <a:xfrm>
            <a:off x="6528816" y="1749117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31" name="Shape 29"/>
          <p:cNvSpPr/>
          <p:nvPr/>
        </p:nvSpPr>
        <p:spPr>
          <a:xfrm>
            <a:off x="6622869" y="1749117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32" name="Shape 30"/>
          <p:cNvSpPr/>
          <p:nvPr/>
        </p:nvSpPr>
        <p:spPr>
          <a:xfrm>
            <a:off x="6669895" y="1749117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33" name="Shape 31"/>
          <p:cNvSpPr/>
          <p:nvPr/>
        </p:nvSpPr>
        <p:spPr>
          <a:xfrm>
            <a:off x="6716921" y="1749117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34" name="Shape 32"/>
          <p:cNvSpPr/>
          <p:nvPr/>
        </p:nvSpPr>
        <p:spPr>
          <a:xfrm>
            <a:off x="6810974" y="1749117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35" name="Shape 33"/>
          <p:cNvSpPr/>
          <p:nvPr/>
        </p:nvSpPr>
        <p:spPr>
          <a:xfrm>
            <a:off x="6905026" y="1749117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36" name="Shape 34"/>
          <p:cNvSpPr/>
          <p:nvPr/>
        </p:nvSpPr>
        <p:spPr>
          <a:xfrm>
            <a:off x="6952053" y="1749117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37" name="Shape 35"/>
          <p:cNvSpPr/>
          <p:nvPr/>
        </p:nvSpPr>
        <p:spPr>
          <a:xfrm>
            <a:off x="7046105" y="1749117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38" name="Shape 36"/>
          <p:cNvSpPr/>
          <p:nvPr/>
        </p:nvSpPr>
        <p:spPr>
          <a:xfrm>
            <a:off x="7187184" y="1749117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39" name="Shape 37"/>
          <p:cNvSpPr/>
          <p:nvPr/>
        </p:nvSpPr>
        <p:spPr>
          <a:xfrm>
            <a:off x="7281237" y="1749117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40" name="Shape 38"/>
          <p:cNvSpPr/>
          <p:nvPr/>
        </p:nvSpPr>
        <p:spPr>
          <a:xfrm>
            <a:off x="7328263" y="1749117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41" name="Shape 39"/>
          <p:cNvSpPr/>
          <p:nvPr/>
        </p:nvSpPr>
        <p:spPr>
          <a:xfrm>
            <a:off x="7375289" y="1749117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42" name="Shape 40"/>
          <p:cNvSpPr/>
          <p:nvPr/>
        </p:nvSpPr>
        <p:spPr>
          <a:xfrm>
            <a:off x="7469342" y="1749117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43" name="Shape 41"/>
          <p:cNvSpPr/>
          <p:nvPr/>
        </p:nvSpPr>
        <p:spPr>
          <a:xfrm>
            <a:off x="6528816" y="1796143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44" name="Shape 42"/>
          <p:cNvSpPr/>
          <p:nvPr/>
        </p:nvSpPr>
        <p:spPr>
          <a:xfrm>
            <a:off x="6622869" y="1796143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45" name="Shape 43"/>
          <p:cNvSpPr/>
          <p:nvPr/>
        </p:nvSpPr>
        <p:spPr>
          <a:xfrm>
            <a:off x="6669895" y="1796143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46" name="Shape 44"/>
          <p:cNvSpPr/>
          <p:nvPr/>
        </p:nvSpPr>
        <p:spPr>
          <a:xfrm>
            <a:off x="6716921" y="1796143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47" name="Shape 45"/>
          <p:cNvSpPr/>
          <p:nvPr/>
        </p:nvSpPr>
        <p:spPr>
          <a:xfrm>
            <a:off x="6810974" y="1796143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48" name="Shape 46"/>
          <p:cNvSpPr/>
          <p:nvPr/>
        </p:nvSpPr>
        <p:spPr>
          <a:xfrm>
            <a:off x="6952053" y="1796143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49" name="Shape 47"/>
          <p:cNvSpPr/>
          <p:nvPr/>
        </p:nvSpPr>
        <p:spPr>
          <a:xfrm>
            <a:off x="6999079" y="1796143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50" name="Shape 48"/>
          <p:cNvSpPr/>
          <p:nvPr/>
        </p:nvSpPr>
        <p:spPr>
          <a:xfrm>
            <a:off x="7046105" y="1796143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51" name="Shape 49"/>
          <p:cNvSpPr/>
          <p:nvPr/>
        </p:nvSpPr>
        <p:spPr>
          <a:xfrm>
            <a:off x="7093131" y="1796143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52" name="Shape 50"/>
          <p:cNvSpPr/>
          <p:nvPr/>
        </p:nvSpPr>
        <p:spPr>
          <a:xfrm>
            <a:off x="7187184" y="1796143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53" name="Shape 51"/>
          <p:cNvSpPr/>
          <p:nvPr/>
        </p:nvSpPr>
        <p:spPr>
          <a:xfrm>
            <a:off x="7281237" y="1796143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54" name="Shape 52"/>
          <p:cNvSpPr/>
          <p:nvPr/>
        </p:nvSpPr>
        <p:spPr>
          <a:xfrm>
            <a:off x="7328263" y="1796143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55" name="Shape 53"/>
          <p:cNvSpPr/>
          <p:nvPr/>
        </p:nvSpPr>
        <p:spPr>
          <a:xfrm>
            <a:off x="7375289" y="1796143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56" name="Shape 54"/>
          <p:cNvSpPr/>
          <p:nvPr/>
        </p:nvSpPr>
        <p:spPr>
          <a:xfrm>
            <a:off x="7469342" y="1796143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57" name="Shape 55"/>
          <p:cNvSpPr/>
          <p:nvPr/>
        </p:nvSpPr>
        <p:spPr>
          <a:xfrm>
            <a:off x="6528816" y="1843169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58" name="Shape 56"/>
          <p:cNvSpPr/>
          <p:nvPr/>
        </p:nvSpPr>
        <p:spPr>
          <a:xfrm>
            <a:off x="6622869" y="1843169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59" name="Shape 57"/>
          <p:cNvSpPr/>
          <p:nvPr/>
        </p:nvSpPr>
        <p:spPr>
          <a:xfrm>
            <a:off x="6669895" y="1843169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60" name="Shape 58"/>
          <p:cNvSpPr/>
          <p:nvPr/>
        </p:nvSpPr>
        <p:spPr>
          <a:xfrm>
            <a:off x="6716921" y="1843169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61" name="Shape 59"/>
          <p:cNvSpPr/>
          <p:nvPr/>
        </p:nvSpPr>
        <p:spPr>
          <a:xfrm>
            <a:off x="6810974" y="1843169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62" name="Shape 60"/>
          <p:cNvSpPr/>
          <p:nvPr/>
        </p:nvSpPr>
        <p:spPr>
          <a:xfrm>
            <a:off x="6905026" y="1843169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63" name="Shape 61"/>
          <p:cNvSpPr/>
          <p:nvPr/>
        </p:nvSpPr>
        <p:spPr>
          <a:xfrm>
            <a:off x="6952053" y="1843169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64" name="Shape 62"/>
          <p:cNvSpPr/>
          <p:nvPr/>
        </p:nvSpPr>
        <p:spPr>
          <a:xfrm>
            <a:off x="7046105" y="1843169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65" name="Shape 63"/>
          <p:cNvSpPr/>
          <p:nvPr/>
        </p:nvSpPr>
        <p:spPr>
          <a:xfrm>
            <a:off x="7187184" y="1843169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66" name="Shape 64"/>
          <p:cNvSpPr/>
          <p:nvPr/>
        </p:nvSpPr>
        <p:spPr>
          <a:xfrm>
            <a:off x="7281237" y="1843169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67" name="Shape 65"/>
          <p:cNvSpPr/>
          <p:nvPr/>
        </p:nvSpPr>
        <p:spPr>
          <a:xfrm>
            <a:off x="7328263" y="1843169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68" name="Shape 66"/>
          <p:cNvSpPr/>
          <p:nvPr/>
        </p:nvSpPr>
        <p:spPr>
          <a:xfrm>
            <a:off x="7375289" y="1843169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69" name="Shape 67"/>
          <p:cNvSpPr/>
          <p:nvPr/>
        </p:nvSpPr>
        <p:spPr>
          <a:xfrm>
            <a:off x="7469342" y="1843169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70" name="Shape 68"/>
          <p:cNvSpPr/>
          <p:nvPr/>
        </p:nvSpPr>
        <p:spPr>
          <a:xfrm>
            <a:off x="6528816" y="1890195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71" name="Shape 69"/>
          <p:cNvSpPr/>
          <p:nvPr/>
        </p:nvSpPr>
        <p:spPr>
          <a:xfrm>
            <a:off x="6810974" y="1890195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72" name="Shape 70"/>
          <p:cNvSpPr/>
          <p:nvPr/>
        </p:nvSpPr>
        <p:spPr>
          <a:xfrm>
            <a:off x="6999079" y="1890195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73" name="Shape 71"/>
          <p:cNvSpPr/>
          <p:nvPr/>
        </p:nvSpPr>
        <p:spPr>
          <a:xfrm>
            <a:off x="7046105" y="1890195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74" name="Shape 72"/>
          <p:cNvSpPr/>
          <p:nvPr/>
        </p:nvSpPr>
        <p:spPr>
          <a:xfrm>
            <a:off x="7187184" y="1890195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75" name="Shape 73"/>
          <p:cNvSpPr/>
          <p:nvPr/>
        </p:nvSpPr>
        <p:spPr>
          <a:xfrm>
            <a:off x="7469342" y="1890195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76" name="Shape 74"/>
          <p:cNvSpPr/>
          <p:nvPr/>
        </p:nvSpPr>
        <p:spPr>
          <a:xfrm>
            <a:off x="6528816" y="1937222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77" name="Shape 75"/>
          <p:cNvSpPr/>
          <p:nvPr/>
        </p:nvSpPr>
        <p:spPr>
          <a:xfrm>
            <a:off x="6575842" y="1937222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78" name="Shape 76"/>
          <p:cNvSpPr/>
          <p:nvPr/>
        </p:nvSpPr>
        <p:spPr>
          <a:xfrm>
            <a:off x="6622869" y="1937222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79" name="Shape 77"/>
          <p:cNvSpPr/>
          <p:nvPr/>
        </p:nvSpPr>
        <p:spPr>
          <a:xfrm>
            <a:off x="6669895" y="1937222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80" name="Shape 78"/>
          <p:cNvSpPr/>
          <p:nvPr/>
        </p:nvSpPr>
        <p:spPr>
          <a:xfrm>
            <a:off x="6716921" y="1937222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81" name="Shape 79"/>
          <p:cNvSpPr/>
          <p:nvPr/>
        </p:nvSpPr>
        <p:spPr>
          <a:xfrm>
            <a:off x="6763947" y="1937222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82" name="Shape 80"/>
          <p:cNvSpPr/>
          <p:nvPr/>
        </p:nvSpPr>
        <p:spPr>
          <a:xfrm>
            <a:off x="6810974" y="1937222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83" name="Shape 81"/>
          <p:cNvSpPr/>
          <p:nvPr/>
        </p:nvSpPr>
        <p:spPr>
          <a:xfrm>
            <a:off x="6905026" y="1937222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84" name="Shape 82"/>
          <p:cNvSpPr/>
          <p:nvPr/>
        </p:nvSpPr>
        <p:spPr>
          <a:xfrm>
            <a:off x="6999079" y="1937222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85" name="Shape 83"/>
          <p:cNvSpPr/>
          <p:nvPr/>
        </p:nvSpPr>
        <p:spPr>
          <a:xfrm>
            <a:off x="7093131" y="1937222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86" name="Shape 84"/>
          <p:cNvSpPr/>
          <p:nvPr/>
        </p:nvSpPr>
        <p:spPr>
          <a:xfrm>
            <a:off x="7187184" y="1937222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87" name="Shape 85"/>
          <p:cNvSpPr/>
          <p:nvPr/>
        </p:nvSpPr>
        <p:spPr>
          <a:xfrm>
            <a:off x="7234210" y="1937222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88" name="Shape 86"/>
          <p:cNvSpPr/>
          <p:nvPr/>
        </p:nvSpPr>
        <p:spPr>
          <a:xfrm>
            <a:off x="7281237" y="1937222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89" name="Shape 87"/>
          <p:cNvSpPr/>
          <p:nvPr/>
        </p:nvSpPr>
        <p:spPr>
          <a:xfrm>
            <a:off x="7328263" y="1937222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90" name="Shape 88"/>
          <p:cNvSpPr/>
          <p:nvPr/>
        </p:nvSpPr>
        <p:spPr>
          <a:xfrm>
            <a:off x="7375289" y="1937222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91" name="Shape 89"/>
          <p:cNvSpPr/>
          <p:nvPr/>
        </p:nvSpPr>
        <p:spPr>
          <a:xfrm>
            <a:off x="7422315" y="1937222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92" name="Shape 90"/>
          <p:cNvSpPr/>
          <p:nvPr/>
        </p:nvSpPr>
        <p:spPr>
          <a:xfrm>
            <a:off x="7469342" y="1937222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93" name="Shape 91"/>
          <p:cNvSpPr/>
          <p:nvPr/>
        </p:nvSpPr>
        <p:spPr>
          <a:xfrm>
            <a:off x="6905026" y="1984248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94" name="Shape 92"/>
          <p:cNvSpPr/>
          <p:nvPr/>
        </p:nvSpPr>
        <p:spPr>
          <a:xfrm>
            <a:off x="6952053" y="1984248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95" name="Shape 93"/>
          <p:cNvSpPr/>
          <p:nvPr/>
        </p:nvSpPr>
        <p:spPr>
          <a:xfrm>
            <a:off x="6528816" y="2031274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96" name="Shape 94"/>
          <p:cNvSpPr/>
          <p:nvPr/>
        </p:nvSpPr>
        <p:spPr>
          <a:xfrm>
            <a:off x="6575842" y="2031274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97" name="Shape 95"/>
          <p:cNvSpPr/>
          <p:nvPr/>
        </p:nvSpPr>
        <p:spPr>
          <a:xfrm>
            <a:off x="6622869" y="2031274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98" name="Shape 96"/>
          <p:cNvSpPr/>
          <p:nvPr/>
        </p:nvSpPr>
        <p:spPr>
          <a:xfrm>
            <a:off x="6669895" y="2031274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99" name="Shape 97"/>
          <p:cNvSpPr/>
          <p:nvPr/>
        </p:nvSpPr>
        <p:spPr>
          <a:xfrm>
            <a:off x="6763947" y="2031274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00" name="Shape 98"/>
          <p:cNvSpPr/>
          <p:nvPr/>
        </p:nvSpPr>
        <p:spPr>
          <a:xfrm>
            <a:off x="6810974" y="2031274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01" name="Shape 99"/>
          <p:cNvSpPr/>
          <p:nvPr/>
        </p:nvSpPr>
        <p:spPr>
          <a:xfrm>
            <a:off x="6858000" y="2031274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02" name="Shape 100"/>
          <p:cNvSpPr/>
          <p:nvPr/>
        </p:nvSpPr>
        <p:spPr>
          <a:xfrm>
            <a:off x="6905026" y="2031274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03" name="Shape 101"/>
          <p:cNvSpPr/>
          <p:nvPr/>
        </p:nvSpPr>
        <p:spPr>
          <a:xfrm>
            <a:off x="7046105" y="2031274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04" name="Shape 102"/>
          <p:cNvSpPr/>
          <p:nvPr/>
        </p:nvSpPr>
        <p:spPr>
          <a:xfrm>
            <a:off x="7093131" y="2031274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05" name="Shape 103"/>
          <p:cNvSpPr/>
          <p:nvPr/>
        </p:nvSpPr>
        <p:spPr>
          <a:xfrm>
            <a:off x="7234210" y="2031274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06" name="Shape 104"/>
          <p:cNvSpPr/>
          <p:nvPr/>
        </p:nvSpPr>
        <p:spPr>
          <a:xfrm>
            <a:off x="7281237" y="2031274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07" name="Shape 105"/>
          <p:cNvSpPr/>
          <p:nvPr/>
        </p:nvSpPr>
        <p:spPr>
          <a:xfrm>
            <a:off x="7328263" y="2031274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08" name="Shape 106"/>
          <p:cNvSpPr/>
          <p:nvPr/>
        </p:nvSpPr>
        <p:spPr>
          <a:xfrm>
            <a:off x="7375289" y="2031274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09" name="Shape 107"/>
          <p:cNvSpPr/>
          <p:nvPr/>
        </p:nvSpPr>
        <p:spPr>
          <a:xfrm>
            <a:off x="6528816" y="2078301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10" name="Shape 108"/>
          <p:cNvSpPr/>
          <p:nvPr/>
        </p:nvSpPr>
        <p:spPr>
          <a:xfrm>
            <a:off x="6669895" y="2078301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11" name="Shape 109"/>
          <p:cNvSpPr/>
          <p:nvPr/>
        </p:nvSpPr>
        <p:spPr>
          <a:xfrm>
            <a:off x="6716921" y="2078301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12" name="Shape 110"/>
          <p:cNvSpPr/>
          <p:nvPr/>
        </p:nvSpPr>
        <p:spPr>
          <a:xfrm>
            <a:off x="6763947" y="2078301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13" name="Shape 111"/>
          <p:cNvSpPr/>
          <p:nvPr/>
        </p:nvSpPr>
        <p:spPr>
          <a:xfrm>
            <a:off x="6858000" y="2078301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14" name="Shape 112"/>
          <p:cNvSpPr/>
          <p:nvPr/>
        </p:nvSpPr>
        <p:spPr>
          <a:xfrm>
            <a:off x="6905026" y="2078301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15" name="Shape 113"/>
          <p:cNvSpPr/>
          <p:nvPr/>
        </p:nvSpPr>
        <p:spPr>
          <a:xfrm>
            <a:off x="6952053" y="2078301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16" name="Shape 114"/>
          <p:cNvSpPr/>
          <p:nvPr/>
        </p:nvSpPr>
        <p:spPr>
          <a:xfrm>
            <a:off x="7046105" y="2078301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17" name="Shape 115"/>
          <p:cNvSpPr/>
          <p:nvPr/>
        </p:nvSpPr>
        <p:spPr>
          <a:xfrm>
            <a:off x="7140158" y="2078301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18" name="Shape 116"/>
          <p:cNvSpPr/>
          <p:nvPr/>
        </p:nvSpPr>
        <p:spPr>
          <a:xfrm>
            <a:off x="7187184" y="2078301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19" name="Shape 117"/>
          <p:cNvSpPr/>
          <p:nvPr/>
        </p:nvSpPr>
        <p:spPr>
          <a:xfrm>
            <a:off x="7234210" y="2078301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20" name="Shape 118"/>
          <p:cNvSpPr/>
          <p:nvPr/>
        </p:nvSpPr>
        <p:spPr>
          <a:xfrm>
            <a:off x="7281237" y="2078301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21" name="Shape 119"/>
          <p:cNvSpPr/>
          <p:nvPr/>
        </p:nvSpPr>
        <p:spPr>
          <a:xfrm>
            <a:off x="6669895" y="2125327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763947" y="2125327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810974" y="2125327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905026" y="2125327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952053" y="2125327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999079" y="2125327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27" name="Shape 125"/>
          <p:cNvSpPr/>
          <p:nvPr/>
        </p:nvSpPr>
        <p:spPr>
          <a:xfrm>
            <a:off x="7093131" y="2125327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28" name="Shape 126"/>
          <p:cNvSpPr/>
          <p:nvPr/>
        </p:nvSpPr>
        <p:spPr>
          <a:xfrm>
            <a:off x="7140158" y="2125327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29" name="Shape 127"/>
          <p:cNvSpPr/>
          <p:nvPr/>
        </p:nvSpPr>
        <p:spPr>
          <a:xfrm>
            <a:off x="7328263" y="2125327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30" name="Shape 128"/>
          <p:cNvSpPr/>
          <p:nvPr/>
        </p:nvSpPr>
        <p:spPr>
          <a:xfrm>
            <a:off x="7422315" y="2125327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669895" y="2172353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2172353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999079" y="2172353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34" name="Shape 132"/>
          <p:cNvSpPr/>
          <p:nvPr/>
        </p:nvSpPr>
        <p:spPr>
          <a:xfrm>
            <a:off x="7093131" y="2172353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35" name="Shape 133"/>
          <p:cNvSpPr/>
          <p:nvPr/>
        </p:nvSpPr>
        <p:spPr>
          <a:xfrm>
            <a:off x="7234210" y="2172353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36" name="Shape 134"/>
          <p:cNvSpPr/>
          <p:nvPr/>
        </p:nvSpPr>
        <p:spPr>
          <a:xfrm>
            <a:off x="7281237" y="2172353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37" name="Shape 135"/>
          <p:cNvSpPr/>
          <p:nvPr/>
        </p:nvSpPr>
        <p:spPr>
          <a:xfrm>
            <a:off x="7422315" y="2172353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528816" y="2219379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575842" y="2219379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622869" y="2219379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669895" y="2219379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42" name="Shape 140"/>
          <p:cNvSpPr/>
          <p:nvPr/>
        </p:nvSpPr>
        <p:spPr>
          <a:xfrm>
            <a:off x="6716921" y="2219379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43" name="Shape 141"/>
          <p:cNvSpPr/>
          <p:nvPr/>
        </p:nvSpPr>
        <p:spPr>
          <a:xfrm>
            <a:off x="6810974" y="2219379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44" name="Shape 142"/>
          <p:cNvSpPr/>
          <p:nvPr/>
        </p:nvSpPr>
        <p:spPr>
          <a:xfrm>
            <a:off x="6858000" y="2219379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45" name="Shape 143"/>
          <p:cNvSpPr/>
          <p:nvPr/>
        </p:nvSpPr>
        <p:spPr>
          <a:xfrm>
            <a:off x="6952053" y="2219379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046105" y="2219379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187184" y="2219379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28263" y="2219379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49" name="Shape 147"/>
          <p:cNvSpPr/>
          <p:nvPr/>
        </p:nvSpPr>
        <p:spPr>
          <a:xfrm>
            <a:off x="6952053" y="2266406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046105" y="2266406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140158" y="2266406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281237" y="2266406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53" name="Shape 151"/>
          <p:cNvSpPr/>
          <p:nvPr/>
        </p:nvSpPr>
        <p:spPr>
          <a:xfrm>
            <a:off x="6528816" y="2313432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54" name="Shape 152"/>
          <p:cNvSpPr/>
          <p:nvPr/>
        </p:nvSpPr>
        <p:spPr>
          <a:xfrm>
            <a:off x="6575842" y="2313432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55" name="Shape 153"/>
          <p:cNvSpPr/>
          <p:nvPr/>
        </p:nvSpPr>
        <p:spPr>
          <a:xfrm>
            <a:off x="6622869" y="2313432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56" name="Shape 154"/>
          <p:cNvSpPr/>
          <p:nvPr/>
        </p:nvSpPr>
        <p:spPr>
          <a:xfrm>
            <a:off x="6669895" y="2313432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57" name="Shape 155"/>
          <p:cNvSpPr/>
          <p:nvPr/>
        </p:nvSpPr>
        <p:spPr>
          <a:xfrm>
            <a:off x="6716921" y="2313432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58" name="Shape 156"/>
          <p:cNvSpPr/>
          <p:nvPr/>
        </p:nvSpPr>
        <p:spPr>
          <a:xfrm>
            <a:off x="6763947" y="2313432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59" name="Shape 157"/>
          <p:cNvSpPr/>
          <p:nvPr/>
        </p:nvSpPr>
        <p:spPr>
          <a:xfrm>
            <a:off x="6810974" y="2313432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60" name="Shape 158"/>
          <p:cNvSpPr/>
          <p:nvPr/>
        </p:nvSpPr>
        <p:spPr>
          <a:xfrm>
            <a:off x="6905026" y="2313432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61" name="Shape 159"/>
          <p:cNvSpPr/>
          <p:nvPr/>
        </p:nvSpPr>
        <p:spPr>
          <a:xfrm>
            <a:off x="6952053" y="2313432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62" name="Shape 160"/>
          <p:cNvSpPr/>
          <p:nvPr/>
        </p:nvSpPr>
        <p:spPr>
          <a:xfrm>
            <a:off x="6999079" y="2313432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63" name="Shape 161"/>
          <p:cNvSpPr/>
          <p:nvPr/>
        </p:nvSpPr>
        <p:spPr>
          <a:xfrm>
            <a:off x="7046105" y="2313432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64" name="Shape 162"/>
          <p:cNvSpPr/>
          <p:nvPr/>
        </p:nvSpPr>
        <p:spPr>
          <a:xfrm>
            <a:off x="7093131" y="2313432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65" name="Shape 163"/>
          <p:cNvSpPr/>
          <p:nvPr/>
        </p:nvSpPr>
        <p:spPr>
          <a:xfrm>
            <a:off x="7140158" y="2313432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66" name="Shape 164"/>
          <p:cNvSpPr/>
          <p:nvPr/>
        </p:nvSpPr>
        <p:spPr>
          <a:xfrm>
            <a:off x="7187184" y="2313432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67" name="Shape 165"/>
          <p:cNvSpPr/>
          <p:nvPr/>
        </p:nvSpPr>
        <p:spPr>
          <a:xfrm>
            <a:off x="6528816" y="2360458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68" name="Shape 166"/>
          <p:cNvSpPr/>
          <p:nvPr/>
        </p:nvSpPr>
        <p:spPr>
          <a:xfrm>
            <a:off x="6810974" y="2360458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69" name="Shape 167"/>
          <p:cNvSpPr/>
          <p:nvPr/>
        </p:nvSpPr>
        <p:spPr>
          <a:xfrm>
            <a:off x="6905026" y="2360458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70" name="Shape 168"/>
          <p:cNvSpPr/>
          <p:nvPr/>
        </p:nvSpPr>
        <p:spPr>
          <a:xfrm>
            <a:off x="6952053" y="2360458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71" name="Shape 169"/>
          <p:cNvSpPr/>
          <p:nvPr/>
        </p:nvSpPr>
        <p:spPr>
          <a:xfrm>
            <a:off x="7187184" y="2360458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72" name="Shape 170"/>
          <p:cNvSpPr/>
          <p:nvPr/>
        </p:nvSpPr>
        <p:spPr>
          <a:xfrm>
            <a:off x="7469342" y="2360458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73" name="Shape 171"/>
          <p:cNvSpPr/>
          <p:nvPr/>
        </p:nvSpPr>
        <p:spPr>
          <a:xfrm>
            <a:off x="6528816" y="2407485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74" name="Shape 172"/>
          <p:cNvSpPr/>
          <p:nvPr/>
        </p:nvSpPr>
        <p:spPr>
          <a:xfrm>
            <a:off x="6622869" y="2407485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75" name="Shape 173"/>
          <p:cNvSpPr/>
          <p:nvPr/>
        </p:nvSpPr>
        <p:spPr>
          <a:xfrm>
            <a:off x="6669895" y="2407485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76" name="Shape 174"/>
          <p:cNvSpPr/>
          <p:nvPr/>
        </p:nvSpPr>
        <p:spPr>
          <a:xfrm>
            <a:off x="6716921" y="2407485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77" name="Shape 175"/>
          <p:cNvSpPr/>
          <p:nvPr/>
        </p:nvSpPr>
        <p:spPr>
          <a:xfrm>
            <a:off x="6810974" y="2407485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78" name="Shape 176"/>
          <p:cNvSpPr/>
          <p:nvPr/>
        </p:nvSpPr>
        <p:spPr>
          <a:xfrm>
            <a:off x="6905026" y="2407485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79" name="Shape 177"/>
          <p:cNvSpPr/>
          <p:nvPr/>
        </p:nvSpPr>
        <p:spPr>
          <a:xfrm>
            <a:off x="7046105" y="2407485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80" name="Shape 178"/>
          <p:cNvSpPr/>
          <p:nvPr/>
        </p:nvSpPr>
        <p:spPr>
          <a:xfrm>
            <a:off x="7093131" y="2407485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81" name="Shape 179"/>
          <p:cNvSpPr/>
          <p:nvPr/>
        </p:nvSpPr>
        <p:spPr>
          <a:xfrm>
            <a:off x="7140158" y="2407485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82" name="Shape 180"/>
          <p:cNvSpPr/>
          <p:nvPr/>
        </p:nvSpPr>
        <p:spPr>
          <a:xfrm>
            <a:off x="7328263" y="2407485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83" name="Shape 181"/>
          <p:cNvSpPr/>
          <p:nvPr/>
        </p:nvSpPr>
        <p:spPr>
          <a:xfrm>
            <a:off x="7469342" y="2407485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84" name="Shape 182"/>
          <p:cNvSpPr/>
          <p:nvPr/>
        </p:nvSpPr>
        <p:spPr>
          <a:xfrm>
            <a:off x="6528816" y="2454511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85" name="Shape 183"/>
          <p:cNvSpPr/>
          <p:nvPr/>
        </p:nvSpPr>
        <p:spPr>
          <a:xfrm>
            <a:off x="6622869" y="2454511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86" name="Shape 184"/>
          <p:cNvSpPr/>
          <p:nvPr/>
        </p:nvSpPr>
        <p:spPr>
          <a:xfrm>
            <a:off x="6669895" y="2454511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87" name="Shape 185"/>
          <p:cNvSpPr/>
          <p:nvPr/>
        </p:nvSpPr>
        <p:spPr>
          <a:xfrm>
            <a:off x="6716921" y="2454511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88" name="Shape 186"/>
          <p:cNvSpPr/>
          <p:nvPr/>
        </p:nvSpPr>
        <p:spPr>
          <a:xfrm>
            <a:off x="6810974" y="2454511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89" name="Shape 187"/>
          <p:cNvSpPr/>
          <p:nvPr/>
        </p:nvSpPr>
        <p:spPr>
          <a:xfrm>
            <a:off x="6952053" y="2454511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90" name="Shape 188"/>
          <p:cNvSpPr/>
          <p:nvPr/>
        </p:nvSpPr>
        <p:spPr>
          <a:xfrm>
            <a:off x="7093131" y="2454511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91" name="Shape 189"/>
          <p:cNvSpPr/>
          <p:nvPr/>
        </p:nvSpPr>
        <p:spPr>
          <a:xfrm>
            <a:off x="7140158" y="2454511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92" name="Shape 190"/>
          <p:cNvSpPr/>
          <p:nvPr/>
        </p:nvSpPr>
        <p:spPr>
          <a:xfrm>
            <a:off x="7187184" y="2454511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93" name="Shape 191"/>
          <p:cNvSpPr/>
          <p:nvPr/>
        </p:nvSpPr>
        <p:spPr>
          <a:xfrm>
            <a:off x="7281237" y="2454511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94" name="Shape 192"/>
          <p:cNvSpPr/>
          <p:nvPr/>
        </p:nvSpPr>
        <p:spPr>
          <a:xfrm>
            <a:off x="7469342" y="2454511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95" name="Shape 193"/>
          <p:cNvSpPr/>
          <p:nvPr/>
        </p:nvSpPr>
        <p:spPr>
          <a:xfrm>
            <a:off x="6528816" y="2501537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96" name="Shape 194"/>
          <p:cNvSpPr/>
          <p:nvPr/>
        </p:nvSpPr>
        <p:spPr>
          <a:xfrm>
            <a:off x="6622869" y="2501537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97" name="Shape 195"/>
          <p:cNvSpPr/>
          <p:nvPr/>
        </p:nvSpPr>
        <p:spPr>
          <a:xfrm>
            <a:off x="6669895" y="2501537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98" name="Shape 196"/>
          <p:cNvSpPr/>
          <p:nvPr/>
        </p:nvSpPr>
        <p:spPr>
          <a:xfrm>
            <a:off x="6716921" y="2501537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199" name="Shape 197"/>
          <p:cNvSpPr/>
          <p:nvPr/>
        </p:nvSpPr>
        <p:spPr>
          <a:xfrm>
            <a:off x="6810974" y="2501537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200" name="Shape 198"/>
          <p:cNvSpPr/>
          <p:nvPr/>
        </p:nvSpPr>
        <p:spPr>
          <a:xfrm>
            <a:off x="6999079" y="2501537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201" name="Shape 199"/>
          <p:cNvSpPr/>
          <p:nvPr/>
        </p:nvSpPr>
        <p:spPr>
          <a:xfrm>
            <a:off x="7046105" y="2501537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202" name="Shape 200"/>
          <p:cNvSpPr/>
          <p:nvPr/>
        </p:nvSpPr>
        <p:spPr>
          <a:xfrm>
            <a:off x="7093131" y="2501537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203" name="Shape 201"/>
          <p:cNvSpPr/>
          <p:nvPr/>
        </p:nvSpPr>
        <p:spPr>
          <a:xfrm>
            <a:off x="7140158" y="2501537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204" name="Shape 202"/>
          <p:cNvSpPr/>
          <p:nvPr/>
        </p:nvSpPr>
        <p:spPr>
          <a:xfrm>
            <a:off x="7234210" y="2501537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205" name="Shape 203"/>
          <p:cNvSpPr/>
          <p:nvPr/>
        </p:nvSpPr>
        <p:spPr>
          <a:xfrm>
            <a:off x="7281237" y="2501537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206" name="Shape 204"/>
          <p:cNvSpPr/>
          <p:nvPr/>
        </p:nvSpPr>
        <p:spPr>
          <a:xfrm>
            <a:off x="7422315" y="2501537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207" name="Shape 205"/>
          <p:cNvSpPr/>
          <p:nvPr/>
        </p:nvSpPr>
        <p:spPr>
          <a:xfrm>
            <a:off x="6528816" y="2548563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208" name="Shape 206"/>
          <p:cNvSpPr/>
          <p:nvPr/>
        </p:nvSpPr>
        <p:spPr>
          <a:xfrm>
            <a:off x="6810974" y="2548563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209" name="Shape 207"/>
          <p:cNvSpPr/>
          <p:nvPr/>
        </p:nvSpPr>
        <p:spPr>
          <a:xfrm>
            <a:off x="6905026" y="2548563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210" name="Shape 208"/>
          <p:cNvSpPr/>
          <p:nvPr/>
        </p:nvSpPr>
        <p:spPr>
          <a:xfrm>
            <a:off x="6952053" y="2548563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211" name="Shape 209"/>
          <p:cNvSpPr/>
          <p:nvPr/>
        </p:nvSpPr>
        <p:spPr>
          <a:xfrm>
            <a:off x="7046105" y="2548563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212" name="Shape 210"/>
          <p:cNvSpPr/>
          <p:nvPr/>
        </p:nvSpPr>
        <p:spPr>
          <a:xfrm>
            <a:off x="7140158" y="2548563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213" name="Shape 211"/>
          <p:cNvSpPr/>
          <p:nvPr/>
        </p:nvSpPr>
        <p:spPr>
          <a:xfrm>
            <a:off x="7281237" y="2548563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214" name="Shape 212"/>
          <p:cNvSpPr/>
          <p:nvPr/>
        </p:nvSpPr>
        <p:spPr>
          <a:xfrm>
            <a:off x="7375289" y="2548563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215" name="Shape 213"/>
          <p:cNvSpPr/>
          <p:nvPr/>
        </p:nvSpPr>
        <p:spPr>
          <a:xfrm>
            <a:off x="7422315" y="2548563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216" name="Shape 214"/>
          <p:cNvSpPr/>
          <p:nvPr/>
        </p:nvSpPr>
        <p:spPr>
          <a:xfrm>
            <a:off x="6528816" y="2595590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217" name="Shape 215"/>
          <p:cNvSpPr/>
          <p:nvPr/>
        </p:nvSpPr>
        <p:spPr>
          <a:xfrm>
            <a:off x="6575842" y="2595590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218" name="Shape 216"/>
          <p:cNvSpPr/>
          <p:nvPr/>
        </p:nvSpPr>
        <p:spPr>
          <a:xfrm>
            <a:off x="6622869" y="2595590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219" name="Shape 217"/>
          <p:cNvSpPr/>
          <p:nvPr/>
        </p:nvSpPr>
        <p:spPr>
          <a:xfrm>
            <a:off x="6669895" y="2595590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220" name="Shape 218"/>
          <p:cNvSpPr/>
          <p:nvPr/>
        </p:nvSpPr>
        <p:spPr>
          <a:xfrm>
            <a:off x="6716921" y="2595590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221" name="Shape 219"/>
          <p:cNvSpPr/>
          <p:nvPr/>
        </p:nvSpPr>
        <p:spPr>
          <a:xfrm>
            <a:off x="6763947" y="2595590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222" name="Shape 220"/>
          <p:cNvSpPr/>
          <p:nvPr/>
        </p:nvSpPr>
        <p:spPr>
          <a:xfrm>
            <a:off x="6810974" y="2595590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223" name="Shape 221"/>
          <p:cNvSpPr/>
          <p:nvPr/>
        </p:nvSpPr>
        <p:spPr>
          <a:xfrm>
            <a:off x="6952053" y="2595590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224" name="Shape 222"/>
          <p:cNvSpPr/>
          <p:nvPr/>
        </p:nvSpPr>
        <p:spPr>
          <a:xfrm>
            <a:off x="7140158" y="2595590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225" name="Shape 223"/>
          <p:cNvSpPr/>
          <p:nvPr/>
        </p:nvSpPr>
        <p:spPr>
          <a:xfrm>
            <a:off x="7422315" y="2595590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226" name="Shape 224"/>
          <p:cNvSpPr/>
          <p:nvPr/>
        </p:nvSpPr>
        <p:spPr>
          <a:xfrm>
            <a:off x="7469342" y="2595590"/>
            <a:ext cx="47026" cy="47026"/>
          </a:xfrm>
          <a:prstGeom prst="rect">
            <a:avLst/>
          </a:prstGeom>
          <a:solidFill>
            <a:srgbClr val="0A1B30"/>
          </a:solidFill>
          <a:ln/>
        </p:spPr>
      </p:sp>
      <p:sp>
        <p:nvSpPr>
          <p:cNvPr id="227" name="Shape 225"/>
          <p:cNvSpPr/>
          <p:nvPr/>
        </p:nvSpPr>
        <p:spPr>
          <a:xfrm>
            <a:off x="6473952" y="2560320"/>
            <a:ext cx="672998" cy="237744"/>
          </a:xfrm>
          <a:prstGeom prst="roundRect">
            <a:avLst>
              <a:gd name="adj" fmla="val 19231"/>
            </a:avLst>
          </a:prstGeom>
          <a:solidFill>
            <a:srgbClr val="FFC663"/>
          </a:solidFill>
          <a:ln/>
        </p:spPr>
      </p:sp>
      <p:sp>
        <p:nvSpPr>
          <p:cNvPr id="228" name="Text 226"/>
          <p:cNvSpPr/>
          <p:nvPr/>
        </p:nvSpPr>
        <p:spPr>
          <a:xfrm>
            <a:off x="6473952" y="2560320"/>
            <a:ext cx="6729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201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</a:t>
            </a:r>
            <a:endParaRPr lang="en-US" sz="850" dirty="0"/>
          </a:p>
        </p:txBody>
      </p:sp>
      <p:sp>
        <p:nvSpPr>
          <p:cNvPr id="229" name="Text 227"/>
          <p:cNvSpPr/>
          <p:nvPr/>
        </p:nvSpPr>
        <p:spPr>
          <a:xfrm>
            <a:off x="7726680" y="16459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E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Moodle workshop</a:t>
            </a:r>
            <a:endParaRPr lang="en-US" sz="1400" dirty="0"/>
          </a:p>
        </p:txBody>
      </p:sp>
      <p:sp>
        <p:nvSpPr>
          <p:cNvPr id="230" name="Shape 228"/>
          <p:cNvSpPr/>
          <p:nvPr/>
        </p:nvSpPr>
        <p:spPr>
          <a:xfrm>
            <a:off x="7726680" y="2029968"/>
            <a:ext cx="974750" cy="237744"/>
          </a:xfrm>
          <a:prstGeom prst="roundRect">
            <a:avLst>
              <a:gd name="adj" fmla="val 19231"/>
            </a:avLst>
          </a:prstGeom>
          <a:solidFill>
            <a:srgbClr val="FFC663"/>
          </a:solidFill>
          <a:ln/>
        </p:spPr>
      </p:sp>
      <p:sp>
        <p:nvSpPr>
          <p:cNvPr id="231" name="Text 229"/>
          <p:cNvSpPr/>
          <p:nvPr/>
        </p:nvSpPr>
        <p:spPr>
          <a:xfrm>
            <a:off x="7726680" y="2029968"/>
            <a:ext cx="97475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201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</a:t>
            </a:r>
            <a:endParaRPr lang="en-US" sz="850" dirty="0"/>
          </a:p>
        </p:txBody>
      </p:sp>
      <p:sp>
        <p:nvSpPr>
          <p:cNvPr id="232" name="Text 230"/>
          <p:cNvSpPr/>
          <p:nvPr/>
        </p:nvSpPr>
        <p:spPr>
          <a:xfrm>
            <a:off x="7726680" y="23957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4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https://moodle.example.com/hmf-clinic</a:t>
            </a:r>
            <a:endParaRPr lang="en-US" sz="1100" dirty="0"/>
          </a:p>
        </p:txBody>
      </p:sp>
      <p:sp>
        <p:nvSpPr>
          <p:cNvPr id="233" name="Shape 231"/>
          <p:cNvSpPr/>
          <p:nvPr/>
        </p:nvSpPr>
        <p:spPr>
          <a:xfrm>
            <a:off x="6245352" y="3063240"/>
            <a:ext cx="5394960" cy="1325880"/>
          </a:xfrm>
          <a:prstGeom prst="roundRect">
            <a:avLst>
              <a:gd name="adj" fmla="val 9655"/>
            </a:avLst>
          </a:prstGeom>
          <a:solidFill>
            <a:srgbClr val="241B0C"/>
          </a:solidFill>
          <a:ln w="15875">
            <a:solidFill>
              <a:srgbClr val="7A5410"/>
            </a:solidFill>
            <a:prstDash val="dash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234" name="Text 232"/>
          <p:cNvSpPr/>
          <p:nvPr/>
        </p:nvSpPr>
        <p:spPr>
          <a:xfrm>
            <a:off x="6519672" y="3246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E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Image Convertor</a:t>
            </a:r>
            <a:endParaRPr lang="en-US" sz="1500" dirty="0"/>
          </a:p>
        </p:txBody>
      </p:sp>
      <p:sp>
        <p:nvSpPr>
          <p:cNvPr id="235" name="Shape 233"/>
          <p:cNvSpPr/>
          <p:nvPr/>
        </p:nvSpPr>
        <p:spPr>
          <a:xfrm>
            <a:off x="9464040" y="3291840"/>
            <a:ext cx="974750" cy="237744"/>
          </a:xfrm>
          <a:prstGeom prst="roundRect">
            <a:avLst>
              <a:gd name="adj" fmla="val 19231"/>
            </a:avLst>
          </a:prstGeom>
          <a:solidFill>
            <a:srgbClr val="FFC663"/>
          </a:solidFill>
          <a:ln/>
        </p:spPr>
      </p:sp>
      <p:sp>
        <p:nvSpPr>
          <p:cNvPr id="236" name="Text 234"/>
          <p:cNvSpPr/>
          <p:nvPr/>
        </p:nvSpPr>
        <p:spPr>
          <a:xfrm>
            <a:off x="9464040" y="3291840"/>
            <a:ext cx="97475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201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</a:t>
            </a:r>
            <a:endParaRPr lang="en-US" sz="850" dirty="0"/>
          </a:p>
        </p:txBody>
      </p:sp>
      <p:sp>
        <p:nvSpPr>
          <p:cNvPr id="237" name="Text 235"/>
          <p:cNvSpPr/>
          <p:nvPr/>
        </p:nvSpPr>
        <p:spPr>
          <a:xfrm>
            <a:off x="6519672" y="367588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9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https://circuit-convertor.example.com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4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of the flipchart → topology diagram</a:t>
            </a:r>
            <a:endParaRPr lang="en-US" sz="1150" dirty="0"/>
          </a:p>
        </p:txBody>
      </p:sp>
      <p:sp>
        <p:nvSpPr>
          <p:cNvPr id="238" name="Text 236"/>
          <p:cNvSpPr/>
          <p:nvPr/>
        </p:nvSpPr>
        <p:spPr>
          <a:xfrm>
            <a:off x="548640" y="5074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4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Secure · HMF Design Clinic — instructional facilitator guide. Cedarline Health Group is a fictional customer. The QR code and tool links are placeholders — replace before the session.</a:t>
            </a:r>
            <a:endParaRPr lang="en-US" sz="1100" dirty="0"/>
          </a:p>
        </p:txBody>
      </p:sp>
      <p:sp>
        <p:nvSpPr>
          <p:cNvPr id="239" name="Shape 237"/>
          <p:cNvSpPr/>
          <p:nvPr/>
        </p:nvSpPr>
        <p:spPr>
          <a:xfrm>
            <a:off x="548640" y="6069787"/>
            <a:ext cx="16459" cy="38405"/>
          </a:xfrm>
          <a:prstGeom prst="roundRect">
            <a:avLst>
              <a:gd name="adj" fmla="val 50001"/>
            </a:avLst>
          </a:prstGeom>
          <a:solidFill>
            <a:srgbClr val="00BCEB"/>
          </a:solidFill>
          <a:ln/>
        </p:spPr>
      </p:sp>
      <p:sp>
        <p:nvSpPr>
          <p:cNvPr id="240" name="Shape 238"/>
          <p:cNvSpPr/>
          <p:nvPr/>
        </p:nvSpPr>
        <p:spPr>
          <a:xfrm>
            <a:off x="576621" y="6047842"/>
            <a:ext cx="16459" cy="60350"/>
          </a:xfrm>
          <a:prstGeom prst="roundRect">
            <a:avLst>
              <a:gd name="adj" fmla="val 50001"/>
            </a:avLst>
          </a:prstGeom>
          <a:solidFill>
            <a:srgbClr val="00BCEB"/>
          </a:solidFill>
          <a:ln/>
        </p:spPr>
      </p:sp>
      <p:sp>
        <p:nvSpPr>
          <p:cNvPr id="241" name="Shape 239"/>
          <p:cNvSpPr/>
          <p:nvPr/>
        </p:nvSpPr>
        <p:spPr>
          <a:xfrm>
            <a:off x="604601" y="6020410"/>
            <a:ext cx="16459" cy="87782"/>
          </a:xfrm>
          <a:prstGeom prst="roundRect">
            <a:avLst>
              <a:gd name="adj" fmla="val 50001"/>
            </a:avLst>
          </a:prstGeom>
          <a:solidFill>
            <a:srgbClr val="00BCEB"/>
          </a:solidFill>
          <a:ln/>
        </p:spPr>
      </p:sp>
      <p:sp>
        <p:nvSpPr>
          <p:cNvPr id="242" name="Shape 240"/>
          <p:cNvSpPr/>
          <p:nvPr/>
        </p:nvSpPr>
        <p:spPr>
          <a:xfrm>
            <a:off x="632582" y="5987491"/>
            <a:ext cx="16459" cy="120701"/>
          </a:xfrm>
          <a:prstGeom prst="roundRect">
            <a:avLst>
              <a:gd name="adj" fmla="val 50001"/>
            </a:avLst>
          </a:prstGeom>
          <a:solidFill>
            <a:srgbClr val="00BCEB"/>
          </a:solidFill>
          <a:ln/>
        </p:spPr>
      </p:sp>
      <p:sp>
        <p:nvSpPr>
          <p:cNvPr id="243" name="Shape 241"/>
          <p:cNvSpPr/>
          <p:nvPr/>
        </p:nvSpPr>
        <p:spPr>
          <a:xfrm>
            <a:off x="660563" y="5960059"/>
            <a:ext cx="16459" cy="148133"/>
          </a:xfrm>
          <a:prstGeom prst="roundRect">
            <a:avLst>
              <a:gd name="adj" fmla="val 50001"/>
            </a:avLst>
          </a:prstGeom>
          <a:solidFill>
            <a:srgbClr val="00BCEB"/>
          </a:solidFill>
          <a:ln/>
        </p:spPr>
      </p:sp>
      <p:sp>
        <p:nvSpPr>
          <p:cNvPr id="244" name="Shape 242"/>
          <p:cNvSpPr/>
          <p:nvPr/>
        </p:nvSpPr>
        <p:spPr>
          <a:xfrm>
            <a:off x="688543" y="5943600"/>
            <a:ext cx="16459" cy="164592"/>
          </a:xfrm>
          <a:prstGeom prst="roundRect">
            <a:avLst>
              <a:gd name="adj" fmla="val 50001"/>
            </a:avLst>
          </a:prstGeom>
          <a:solidFill>
            <a:srgbClr val="00BCEB"/>
          </a:solidFill>
          <a:ln/>
        </p:spPr>
      </p:sp>
      <p:sp>
        <p:nvSpPr>
          <p:cNvPr id="245" name="Shape 243"/>
          <p:cNvSpPr/>
          <p:nvPr/>
        </p:nvSpPr>
        <p:spPr>
          <a:xfrm>
            <a:off x="716524" y="5960059"/>
            <a:ext cx="16459" cy="148133"/>
          </a:xfrm>
          <a:prstGeom prst="roundRect">
            <a:avLst>
              <a:gd name="adj" fmla="val 50001"/>
            </a:avLst>
          </a:prstGeom>
          <a:solidFill>
            <a:srgbClr val="00BCEB"/>
          </a:solidFill>
          <a:ln/>
        </p:spPr>
      </p:sp>
      <p:sp>
        <p:nvSpPr>
          <p:cNvPr id="246" name="Shape 244"/>
          <p:cNvSpPr/>
          <p:nvPr/>
        </p:nvSpPr>
        <p:spPr>
          <a:xfrm>
            <a:off x="744504" y="5987491"/>
            <a:ext cx="16459" cy="120701"/>
          </a:xfrm>
          <a:prstGeom prst="roundRect">
            <a:avLst>
              <a:gd name="adj" fmla="val 50001"/>
            </a:avLst>
          </a:prstGeom>
          <a:solidFill>
            <a:srgbClr val="00BCEB"/>
          </a:solidFill>
          <a:ln/>
        </p:spPr>
      </p:sp>
      <p:sp>
        <p:nvSpPr>
          <p:cNvPr id="247" name="Shape 245"/>
          <p:cNvSpPr/>
          <p:nvPr/>
        </p:nvSpPr>
        <p:spPr>
          <a:xfrm>
            <a:off x="772485" y="6020410"/>
            <a:ext cx="16459" cy="87782"/>
          </a:xfrm>
          <a:prstGeom prst="roundRect">
            <a:avLst>
              <a:gd name="adj" fmla="val 50001"/>
            </a:avLst>
          </a:prstGeom>
          <a:solidFill>
            <a:srgbClr val="00BCEB"/>
          </a:solidFill>
          <a:ln/>
        </p:spPr>
      </p:sp>
      <p:sp>
        <p:nvSpPr>
          <p:cNvPr id="248" name="Shape 246"/>
          <p:cNvSpPr/>
          <p:nvPr/>
        </p:nvSpPr>
        <p:spPr>
          <a:xfrm>
            <a:off x="800466" y="6047842"/>
            <a:ext cx="16459" cy="60350"/>
          </a:xfrm>
          <a:prstGeom prst="roundRect">
            <a:avLst>
              <a:gd name="adj" fmla="val 50001"/>
            </a:avLst>
          </a:prstGeom>
          <a:solidFill>
            <a:srgbClr val="00BCEB"/>
          </a:solidFill>
          <a:ln/>
        </p:spPr>
      </p:sp>
      <p:sp>
        <p:nvSpPr>
          <p:cNvPr id="249" name="Shape 247"/>
          <p:cNvSpPr/>
          <p:nvPr/>
        </p:nvSpPr>
        <p:spPr>
          <a:xfrm>
            <a:off x="828446" y="6069787"/>
            <a:ext cx="16459" cy="38405"/>
          </a:xfrm>
          <a:prstGeom prst="roundRect">
            <a:avLst>
              <a:gd name="adj" fmla="val 50001"/>
            </a:avLst>
          </a:prstGeom>
          <a:solidFill>
            <a:srgbClr val="00BCEB"/>
          </a:solidFill>
          <a:ln/>
        </p:spPr>
      </p:sp>
      <p:sp>
        <p:nvSpPr>
          <p:cNvPr id="250" name="Text 248"/>
          <p:cNvSpPr/>
          <p:nvPr/>
        </p:nvSpPr>
        <p:spPr>
          <a:xfrm>
            <a:off x="912388" y="587044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E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</a:t>
            </a:r>
            <a:endParaRPr lang="en-US" sz="1300" dirty="0"/>
          </a:p>
        </p:txBody>
      </p:sp>
      <p:sp>
        <p:nvSpPr>
          <p:cNvPr id="251" name="Text 249"/>
          <p:cNvSpPr/>
          <p:nvPr/>
        </p:nvSpPr>
        <p:spPr>
          <a:xfrm>
            <a:off x="1434328" y="588873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6" b="1" spc="150" kern="0" dirty="0">
                <a:solidFill>
                  <a:srgbClr val="00B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546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Cisco Secure — HMF Design Clinic (Instructional Guide)</dc:creator>
  <cp:lastModifiedBy>Cisco Secure — HMF Design Clinic (Instructional Guide)</cp:lastModifiedBy>
  <cp:revision>1</cp:revision>
  <dcterms:created xsi:type="dcterms:W3CDTF">2026-08-19T15:53:31Z</dcterms:created>
  <dcterms:modified xsi:type="dcterms:W3CDTF">2026-08-19T15:53:31Z</dcterms:modified>
</cp:coreProperties>
</file>