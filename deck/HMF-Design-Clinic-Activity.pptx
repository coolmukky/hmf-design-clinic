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Kickoff. 45-minute hands-on activity. Groups of 2–4 at each table. Everything is submitted and auto-scored in Moodle.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phases. The bulk of time (23 min) is the four case studies. Keep the clock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group discussion, individual submission. Product + platform + the SE explanation for each pain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builds ONE flipchart. Photo → Circuit Image Convertor → topology → each person uploads individually to Moodle.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 of responsibilities. Proctors coach but do not give answers; scoring is automatic in Moodle.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Placeholders: the Moodle link/QR and Circuit Image Convertor URL must be replaced before the session. Scoring is automatic in Moodle.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41274"/>
            <a:ext cx="31090" cy="72542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3" name="Shape 1"/>
          <p:cNvSpPr/>
          <p:nvPr/>
        </p:nvSpPr>
        <p:spPr>
          <a:xfrm>
            <a:off x="601492" y="699821"/>
            <a:ext cx="31090" cy="113995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4" name="Shape 2"/>
          <p:cNvSpPr/>
          <p:nvPr/>
        </p:nvSpPr>
        <p:spPr>
          <a:xfrm>
            <a:off x="654345" y="648005"/>
            <a:ext cx="31090" cy="165811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5" name="Shape 3"/>
          <p:cNvSpPr/>
          <p:nvPr/>
        </p:nvSpPr>
        <p:spPr>
          <a:xfrm>
            <a:off x="707197" y="585826"/>
            <a:ext cx="31090" cy="227990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6" name="Shape 4"/>
          <p:cNvSpPr/>
          <p:nvPr/>
        </p:nvSpPr>
        <p:spPr>
          <a:xfrm>
            <a:off x="760049" y="534010"/>
            <a:ext cx="31090" cy="279806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7" name="Shape 5"/>
          <p:cNvSpPr/>
          <p:nvPr/>
        </p:nvSpPr>
        <p:spPr>
          <a:xfrm>
            <a:off x="812902" y="502920"/>
            <a:ext cx="31090" cy="310896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8" name="Shape 6"/>
          <p:cNvSpPr/>
          <p:nvPr/>
        </p:nvSpPr>
        <p:spPr>
          <a:xfrm>
            <a:off x="865754" y="534010"/>
            <a:ext cx="31090" cy="279806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9" name="Shape 7"/>
          <p:cNvSpPr/>
          <p:nvPr/>
        </p:nvSpPr>
        <p:spPr>
          <a:xfrm>
            <a:off x="918606" y="585826"/>
            <a:ext cx="31090" cy="227990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0" name="Shape 8"/>
          <p:cNvSpPr/>
          <p:nvPr/>
        </p:nvSpPr>
        <p:spPr>
          <a:xfrm>
            <a:off x="971459" y="648005"/>
            <a:ext cx="31090" cy="165811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311" y="699821"/>
            <a:ext cx="31090" cy="113995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7163" y="741274"/>
            <a:ext cx="31090" cy="72542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3" name="Text 11"/>
          <p:cNvSpPr/>
          <p:nvPr/>
        </p:nvSpPr>
        <p:spPr>
          <a:xfrm>
            <a:off x="1217066" y="4297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678381" y="4297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1188" dirty="0"/>
          </a:p>
        </p:txBody>
      </p:sp>
      <p:sp>
        <p:nvSpPr>
          <p:cNvPr id="15" name="Text 13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WORKSHOP  ·  HANDS-ON LAB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" y="2286000"/>
            <a:ext cx="8778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</a:t>
            </a:r>
            <a:endParaRPr lang="en-US" sz="47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7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lnSpc>
                <a:spcPct val="102000"/>
              </a:lnSpc>
              <a:buNone/>
            </a:pPr>
            <a:r>
              <a:rPr lang="en-US" sz="47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</a:t>
            </a:r>
            <a:pPr algn="l" indent="0" marL="0">
              <a:lnSpc>
                <a:spcPct val="102000"/>
              </a:lnSpc>
              <a:buNone/>
            </a:pPr>
            <a:r>
              <a:rPr lang="en-US" sz="47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activity</a:t>
            </a:r>
            <a:endParaRPr lang="en-US" sz="4700" dirty="0"/>
          </a:p>
        </p:txBody>
      </p:sp>
      <p:sp>
        <p:nvSpPr>
          <p:cNvPr id="17" name="Text 15"/>
          <p:cNvSpPr/>
          <p:nvPr/>
        </p:nvSpPr>
        <p:spPr>
          <a:xfrm>
            <a:off x="548640" y="4160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session runs end to end — what your table group does, and what proctors do. Everything is submitted and scored in Moodle.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64040" y="2331720"/>
            <a:ext cx="2148840" cy="1554480"/>
          </a:xfrm>
          <a:prstGeom prst="roundRect">
            <a:avLst>
              <a:gd name="adj" fmla="val 9412"/>
            </a:avLst>
          </a:prstGeom>
          <a:solidFill>
            <a:srgbClr val="16304C"/>
          </a:solidFill>
          <a:ln w="15875">
            <a:solidFill>
              <a:srgbClr val="0A6F9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464040" y="2395728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9464040" y="34015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TOTAL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0749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0749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2–4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423160" y="5074920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FBE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23160" y="507492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in Moodle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Secure · Cedarline Health Group is a fictional customer.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session, phase by phase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phases · 45 minutes end to end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975104" cy="379476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0BCEB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3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49808" y="256032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set up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1181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3474720"/>
            <a:ext cx="15727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Moodle workshop link and form your table group of 2–4.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05456" y="1600200"/>
            <a:ext cx="30175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25496" y="1600200"/>
            <a:ext cx="1975104" cy="379476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26664" y="1819656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0BCEB"/>
          </a:solidFill>
          <a:ln/>
        </p:spPr>
      </p:sp>
      <p:sp>
        <p:nvSpPr>
          <p:cNvPr id="13" name="Text 11"/>
          <p:cNvSpPr/>
          <p:nvPr/>
        </p:nvSpPr>
        <p:spPr>
          <a:xfrm>
            <a:off x="3026664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3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26664" y="256032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case studies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026664" y="31181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min · ~6 min each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26664" y="3474720"/>
            <a:ext cx="15727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pain point, map product + platform, write the SE answer, submit.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82312" y="1600200"/>
            <a:ext cx="30175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102352" y="1600200"/>
            <a:ext cx="1975104" cy="379476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303520" y="1819656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0BCEB"/>
          </a:solidFill>
          <a:ln/>
        </p:spPr>
      </p:sp>
      <p:sp>
        <p:nvSpPr>
          <p:cNvPr id="20" name="Text 18"/>
          <p:cNvSpPr/>
          <p:nvPr/>
        </p:nvSpPr>
        <p:spPr>
          <a:xfrm>
            <a:off x="5303520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3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303520" y="256032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Flipchart story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03520" y="31181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303520" y="3474720"/>
            <a:ext cx="15727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one cumulative diagram across all four case studies — customer-ready.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59168" y="1600200"/>
            <a:ext cx="30175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379208" y="1600200"/>
            <a:ext cx="1975104" cy="379476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580376" y="1819656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0BCEB"/>
          </a:solidFill>
          <a:ln/>
        </p:spPr>
      </p:sp>
      <p:sp>
        <p:nvSpPr>
          <p:cNvPr id="27" name="Text 25"/>
          <p:cNvSpPr/>
          <p:nvPr/>
        </p:nvSpPr>
        <p:spPr>
          <a:xfrm>
            <a:off x="7580376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3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580376" y="256032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&amp; convert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580376" y="31181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580376" y="3474720"/>
            <a:ext cx="15727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the flipchart → turn it into a topology → upload to Moodle.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336024" y="1600200"/>
            <a:ext cx="30175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656064" y="1600200"/>
            <a:ext cx="1975104" cy="379476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857232" y="1819656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0BCEB"/>
          </a:solidFill>
          <a:ln/>
        </p:spPr>
      </p:sp>
      <p:sp>
        <p:nvSpPr>
          <p:cNvPr id="34" name="Text 32"/>
          <p:cNvSpPr/>
          <p:nvPr/>
        </p:nvSpPr>
        <p:spPr>
          <a:xfrm>
            <a:off x="9857232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3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857232" y="256032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&amp; score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857232" y="31181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857232" y="3474720"/>
            <a:ext cx="15727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every submission is in — Moodle tallies the scores automatically.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Shape 37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0" name="Shape 38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1" name="Shape 39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2" name="Shape 40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3" name="Shape 41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4" name="Shape 42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5" name="Shape 43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6" name="Shape 44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7" name="Shape 45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8" name="Shape 46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9" name="Text 47"/>
          <p:cNvSpPr/>
          <p:nvPr/>
        </p:nvSpPr>
        <p:spPr>
          <a:xfrm>
            <a:off x="863194" y="62544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139342" y="6254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  <p:sp>
        <p:nvSpPr>
          <p:cNvPr id="51" name="Text 49"/>
          <p:cNvSpPr/>
          <p:nvPr/>
        </p:nvSpPr>
        <p:spPr>
          <a:xfrm>
            <a:off x="8229600" y="6272784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 ·  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every case study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012680" y="548640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12680" y="5486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× 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969264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four steps for each of the four case studies.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542032" cy="2331720"/>
          </a:xfrm>
          <a:prstGeom prst="roundRect">
            <a:avLst>
              <a:gd name="adj" fmla="val 470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pain point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68096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customer’s concern for this case study.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54096" y="1783080"/>
            <a:ext cx="32918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419856" y="1783080"/>
            <a:ext cx="2542032" cy="2331720"/>
          </a:xfrm>
          <a:prstGeom prst="roundRect">
            <a:avLst>
              <a:gd name="adj" fmla="val 470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39312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39312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product + platform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639312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right Cisco product and the platform.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5312" y="1783080"/>
            <a:ext cx="32918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91072" y="1783080"/>
            <a:ext cx="2542032" cy="2331720"/>
          </a:xfrm>
          <a:prstGeom prst="roundRect">
            <a:avLst>
              <a:gd name="adj" fmla="val 470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0528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10528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SE explanation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510528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accurate Solution-Engineer response.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796528" y="1783080"/>
            <a:ext cx="32918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62288" y="1783080"/>
            <a:ext cx="2542032" cy="2331720"/>
          </a:xfrm>
          <a:prstGeom prst="roundRect">
            <a:avLst>
              <a:gd name="adj" fmla="val 470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81744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81744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in Moodle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381744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records their own answer.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0B2A3A"/>
          </a:solidFill>
          <a:ln w="12700">
            <a:solidFill>
              <a:srgbClr val="0A6F9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526280"/>
            <a:ext cx="82296" cy="1051560"/>
          </a:xfrm>
          <a:prstGeom prst="roundRect">
            <a:avLst>
              <a:gd name="adj" fmla="val 33333"/>
            </a:avLst>
          </a:prstGeom>
          <a:solidFill>
            <a:srgbClr val="00BCEB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4526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together, answer individually. 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it through as a group — but every member enters and submits their own answers in Moodle, so everyone is scored.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0" name="Shape 28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2" name="Shape 30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3" name="Shape 31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5" name="Shape 33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6" name="Shape 34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Text 37"/>
          <p:cNvSpPr/>
          <p:nvPr/>
        </p:nvSpPr>
        <p:spPr>
          <a:xfrm>
            <a:off x="863194" y="62544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139342" y="6254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  <p:sp>
        <p:nvSpPr>
          <p:cNvPr id="41" name="Text 39"/>
          <p:cNvSpPr/>
          <p:nvPr/>
        </p:nvSpPr>
        <p:spPr>
          <a:xfrm>
            <a:off x="8229600" y="6272784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 ·  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group’s deliverable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104120" y="548640"/>
            <a:ext cx="1536192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FBE8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104120" y="54864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969264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cumulative topology that ties all four case studies together.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542032" cy="2331720"/>
          </a:xfrm>
          <a:prstGeom prst="roundRect">
            <a:avLst>
              <a:gd name="adj" fmla="val 4706"/>
            </a:avLst>
          </a:prstGeom>
          <a:solidFill>
            <a:srgbClr val="0F2036"/>
          </a:solidFill>
          <a:ln w="15875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Flipchart diagram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68096" y="31089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cumulative picture across all four case studies — customer-ready.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1783080"/>
            <a:ext cx="32918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419856" y="1783080"/>
            <a:ext cx="2542032" cy="2331720"/>
          </a:xfrm>
          <a:prstGeom prst="roundRect">
            <a:avLst>
              <a:gd name="adj" fmla="val 4706"/>
            </a:avLst>
          </a:prstGeom>
          <a:solidFill>
            <a:srgbClr val="0F2036"/>
          </a:solidFill>
          <a:ln w="15875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39312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39312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it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639312" y="31089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a clear photo of the finished flipchart.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25312" y="1783080"/>
            <a:ext cx="32918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91072" y="1783080"/>
            <a:ext cx="2542032" cy="2331720"/>
          </a:xfrm>
          <a:prstGeom prst="roundRect">
            <a:avLst>
              <a:gd name="adj" fmla="val 4706"/>
            </a:avLst>
          </a:prstGeom>
          <a:solidFill>
            <a:srgbClr val="241B0C"/>
          </a:solidFill>
          <a:ln w="15875">
            <a:solidFill>
              <a:srgbClr val="7A541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0528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10528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Image Convertor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510528" y="31089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your photo into a clean topology diagram.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96528" y="1783080"/>
            <a:ext cx="32918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62288" y="1783080"/>
            <a:ext cx="2542032" cy="2331720"/>
          </a:xfrm>
          <a:prstGeom prst="roundRect">
            <a:avLst>
              <a:gd name="adj" fmla="val 4706"/>
            </a:avLst>
          </a:prstGeom>
          <a:solidFill>
            <a:srgbClr val="0C2A20"/>
          </a:solidFill>
          <a:ln w="15875">
            <a:solidFill>
              <a:srgbClr val="1E6E4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81744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81744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to Moodle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381744" y="31089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uploads the topology diagram individually.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0C2A20"/>
          </a:solidFill>
          <a:ln w="12700">
            <a:solidFill>
              <a:srgbClr val="1E6E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526280"/>
            <a:ext cx="82296" cy="1051560"/>
          </a:xfrm>
          <a:prstGeom prst="roundRect">
            <a:avLst>
              <a:gd name="adj" fmla="val 33333"/>
            </a:avLst>
          </a:prstGeom>
          <a:solidFill>
            <a:srgbClr val="2FBE86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4526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diagram, individual uploads. 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builds a single flipchart story; each person converts it and uploads their own topology so everyone is scored.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0" name="Shape 28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2" name="Shape 30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3" name="Shape 31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5" name="Shape 33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6" name="Shape 34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Text 37"/>
          <p:cNvSpPr/>
          <p:nvPr/>
        </p:nvSpPr>
        <p:spPr>
          <a:xfrm>
            <a:off x="863194" y="62544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139342" y="6254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  <p:sp>
        <p:nvSpPr>
          <p:cNvPr id="41" name="Text 39"/>
          <p:cNvSpPr/>
          <p:nvPr/>
        </p:nvSpPr>
        <p:spPr>
          <a:xfrm>
            <a:off x="8229600" y="6272784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 ·  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4617720"/>
          </a:xfrm>
          <a:prstGeom prst="roundRect">
            <a:avLst>
              <a:gd name="adj" fmla="val 2772"/>
            </a:avLst>
          </a:prstGeom>
          <a:solidFill>
            <a:srgbClr val="0F2036"/>
          </a:solidFill>
          <a:ln w="15875">
            <a:solidFill>
              <a:srgbClr val="124A5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508760"/>
            <a:ext cx="548640" cy="548640"/>
          </a:xfrm>
          <a:prstGeom prst="roundRect">
            <a:avLst>
              <a:gd name="adj" fmla="val 21667"/>
            </a:avLst>
          </a:prstGeom>
          <a:solidFill>
            <a:srgbClr val="0C3A4E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◧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149047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27048" y="18562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TABLE GROUP OF 2–4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48280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 </a:t>
            </a:r>
            <a:pPr algn="l"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Moodle security-workshop link and sit together as a group of 2–4.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 </a:t>
            </a:r>
            <a:pPr algn="l"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of the 4 case studies: read the pain point, map the product + platform, and write the accurate SE explanation.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 </a:t>
            </a:r>
            <a:pPr algn="l"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as a group, then submit your own answers in Moodle.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 </a:t>
            </a:r>
            <a:pPr algn="l"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cumulative flipchart diagram covering all four case studies.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 </a:t>
            </a:r>
            <a:pPr algn="l"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it, convert with Circuit Image Convertor, and upload your topology to Moodle individually.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234440"/>
            <a:ext cx="5394960" cy="4617720"/>
          </a:xfrm>
          <a:prstGeom prst="roundRect">
            <a:avLst>
              <a:gd name="adj" fmla="val 2772"/>
            </a:avLst>
          </a:prstGeom>
          <a:solidFill>
            <a:srgbClr val="0F2036"/>
          </a:solidFill>
          <a:ln w="15875">
            <a:solidFill>
              <a:srgbClr val="5A421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1508760"/>
            <a:ext cx="548640" cy="548640"/>
          </a:xfrm>
          <a:prstGeom prst="roundRect">
            <a:avLst>
              <a:gd name="adj" fmla="val 21667"/>
            </a:avLst>
          </a:prstGeom>
          <a:solidFill>
            <a:srgbClr val="3A2A0C"/>
          </a:solidFill>
          <a:ln w="12700">
            <a:solidFill>
              <a:srgbClr val="F0A2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05472" y="149047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Proctors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223760" y="18562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FACILITATORS AT THE ROOM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37960" y="2331720"/>
            <a:ext cx="48280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 </a:t>
            </a:r>
            <a:pPr algn="l"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Moodle link / code; make sure every table is in and grouped.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 </a:t>
            </a:r>
            <a:pPr algn="l"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and hold the 45-minute clock; keep pace at ~6 min per case study.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 </a:t>
            </a:r>
            <a:pPr algn="l"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out flipcharts + markers; prompt groups to make the diagram customer-ready.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 </a:t>
            </a:r>
            <a:pPr algn="l"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on products — guide, don’t hand out answers; show where Circuit Image Convertor and the upload live.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 </a:t>
            </a:r>
            <a:pPr algn="l"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every person submitted answers and uploaded a topology. Scoring is automatic in Moodle.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16" name="Shape 14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17" name="Shape 15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18" name="Shape 16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19" name="Shape 17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0" name="Shape 18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2" name="Shape 20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3" name="Shape 21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" name="Shape 22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" name="Shape 23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6" name="Text 24"/>
          <p:cNvSpPr/>
          <p:nvPr/>
        </p:nvSpPr>
        <p:spPr>
          <a:xfrm>
            <a:off x="863194" y="62544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39342" y="6254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  <p:sp>
        <p:nvSpPr>
          <p:cNvPr id="28" name="Text 26"/>
          <p:cNvSpPr/>
          <p:nvPr/>
        </p:nvSpPr>
        <p:spPr>
          <a:xfrm>
            <a:off x="8229600" y="6272784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 ·  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logistics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2468880"/>
          </a:xfrm>
          <a:prstGeom prst="roundRect">
            <a:avLst>
              <a:gd name="adj" fmla="val 5185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572768"/>
            <a:ext cx="1883664" cy="1883664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05256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" name="Shape 4"/>
          <p:cNvSpPr/>
          <p:nvPr/>
        </p:nvSpPr>
        <p:spPr>
          <a:xfrm>
            <a:off x="987117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" name="Shape 5"/>
          <p:cNvSpPr/>
          <p:nvPr/>
        </p:nvSpPr>
        <p:spPr>
          <a:xfrm>
            <a:off x="1068977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" name="Shape 6"/>
          <p:cNvSpPr/>
          <p:nvPr/>
        </p:nvSpPr>
        <p:spPr>
          <a:xfrm>
            <a:off x="1150838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" name="Shape 7"/>
          <p:cNvSpPr/>
          <p:nvPr/>
        </p:nvSpPr>
        <p:spPr>
          <a:xfrm>
            <a:off x="1232698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" name="Shape 8"/>
          <p:cNvSpPr/>
          <p:nvPr/>
        </p:nvSpPr>
        <p:spPr>
          <a:xfrm>
            <a:off x="1314559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" name="Shape 9"/>
          <p:cNvSpPr/>
          <p:nvPr/>
        </p:nvSpPr>
        <p:spPr>
          <a:xfrm>
            <a:off x="1396419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" name="Shape 10"/>
          <p:cNvSpPr/>
          <p:nvPr/>
        </p:nvSpPr>
        <p:spPr>
          <a:xfrm>
            <a:off x="1560141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" name="Shape 11"/>
          <p:cNvSpPr/>
          <p:nvPr/>
        </p:nvSpPr>
        <p:spPr>
          <a:xfrm>
            <a:off x="1887583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" name="Shape 12"/>
          <p:cNvSpPr/>
          <p:nvPr/>
        </p:nvSpPr>
        <p:spPr>
          <a:xfrm>
            <a:off x="2051304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" name="Shape 13"/>
          <p:cNvSpPr/>
          <p:nvPr/>
        </p:nvSpPr>
        <p:spPr>
          <a:xfrm>
            <a:off x="2133165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" name="Shape 14"/>
          <p:cNvSpPr/>
          <p:nvPr/>
        </p:nvSpPr>
        <p:spPr>
          <a:xfrm>
            <a:off x="2215025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" name="Shape 15"/>
          <p:cNvSpPr/>
          <p:nvPr/>
        </p:nvSpPr>
        <p:spPr>
          <a:xfrm>
            <a:off x="2296886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" name="Shape 16"/>
          <p:cNvSpPr/>
          <p:nvPr/>
        </p:nvSpPr>
        <p:spPr>
          <a:xfrm>
            <a:off x="2378746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" name="Shape 17"/>
          <p:cNvSpPr/>
          <p:nvPr/>
        </p:nvSpPr>
        <p:spPr>
          <a:xfrm>
            <a:off x="2460607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" name="Shape 18"/>
          <p:cNvSpPr/>
          <p:nvPr/>
        </p:nvSpPr>
        <p:spPr>
          <a:xfrm>
            <a:off x="2542467" y="165506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" name="Shape 19"/>
          <p:cNvSpPr/>
          <p:nvPr/>
        </p:nvSpPr>
        <p:spPr>
          <a:xfrm>
            <a:off x="905256" y="173692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" name="Shape 20"/>
          <p:cNvSpPr/>
          <p:nvPr/>
        </p:nvSpPr>
        <p:spPr>
          <a:xfrm>
            <a:off x="1396419" y="173692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3" name="Shape 21"/>
          <p:cNvSpPr/>
          <p:nvPr/>
        </p:nvSpPr>
        <p:spPr>
          <a:xfrm>
            <a:off x="1805722" y="173692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1304" y="173692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5" name="Shape 23"/>
          <p:cNvSpPr/>
          <p:nvPr/>
        </p:nvSpPr>
        <p:spPr>
          <a:xfrm>
            <a:off x="2542467" y="173692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6" name="Shape 24"/>
          <p:cNvSpPr/>
          <p:nvPr/>
        </p:nvSpPr>
        <p:spPr>
          <a:xfrm>
            <a:off x="905256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7" name="Shape 25"/>
          <p:cNvSpPr/>
          <p:nvPr/>
        </p:nvSpPr>
        <p:spPr>
          <a:xfrm>
            <a:off x="1068977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0838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9" name="Shape 27"/>
          <p:cNvSpPr/>
          <p:nvPr/>
        </p:nvSpPr>
        <p:spPr>
          <a:xfrm>
            <a:off x="1232698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0" name="Shape 28"/>
          <p:cNvSpPr/>
          <p:nvPr/>
        </p:nvSpPr>
        <p:spPr>
          <a:xfrm>
            <a:off x="1396419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1" name="Shape 29"/>
          <p:cNvSpPr/>
          <p:nvPr/>
        </p:nvSpPr>
        <p:spPr>
          <a:xfrm>
            <a:off x="1560141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2" name="Shape 30"/>
          <p:cNvSpPr/>
          <p:nvPr/>
        </p:nvSpPr>
        <p:spPr>
          <a:xfrm>
            <a:off x="1642001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05722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4" name="Shape 32"/>
          <p:cNvSpPr/>
          <p:nvPr/>
        </p:nvSpPr>
        <p:spPr>
          <a:xfrm>
            <a:off x="2051304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5" name="Shape 33"/>
          <p:cNvSpPr/>
          <p:nvPr/>
        </p:nvSpPr>
        <p:spPr>
          <a:xfrm>
            <a:off x="2215025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6" name="Shape 34"/>
          <p:cNvSpPr/>
          <p:nvPr/>
        </p:nvSpPr>
        <p:spPr>
          <a:xfrm>
            <a:off x="2296886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7" name="Shape 35"/>
          <p:cNvSpPr/>
          <p:nvPr/>
        </p:nvSpPr>
        <p:spPr>
          <a:xfrm>
            <a:off x="2378746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8" name="Shape 36"/>
          <p:cNvSpPr/>
          <p:nvPr/>
        </p:nvSpPr>
        <p:spPr>
          <a:xfrm>
            <a:off x="2542467" y="181878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9" name="Shape 37"/>
          <p:cNvSpPr/>
          <p:nvPr/>
        </p:nvSpPr>
        <p:spPr>
          <a:xfrm>
            <a:off x="905256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0" name="Shape 38"/>
          <p:cNvSpPr/>
          <p:nvPr/>
        </p:nvSpPr>
        <p:spPr>
          <a:xfrm>
            <a:off x="1068977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50838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2" name="Shape 40"/>
          <p:cNvSpPr/>
          <p:nvPr/>
        </p:nvSpPr>
        <p:spPr>
          <a:xfrm>
            <a:off x="1232698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3" name="Shape 41"/>
          <p:cNvSpPr/>
          <p:nvPr/>
        </p:nvSpPr>
        <p:spPr>
          <a:xfrm>
            <a:off x="1396419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4" name="Shape 42"/>
          <p:cNvSpPr/>
          <p:nvPr/>
        </p:nvSpPr>
        <p:spPr>
          <a:xfrm>
            <a:off x="1642001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5" name="Shape 43"/>
          <p:cNvSpPr/>
          <p:nvPr/>
        </p:nvSpPr>
        <p:spPr>
          <a:xfrm>
            <a:off x="1723862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6" name="Shape 44"/>
          <p:cNvSpPr/>
          <p:nvPr/>
        </p:nvSpPr>
        <p:spPr>
          <a:xfrm>
            <a:off x="1805722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7" name="Shape 45"/>
          <p:cNvSpPr/>
          <p:nvPr/>
        </p:nvSpPr>
        <p:spPr>
          <a:xfrm>
            <a:off x="1887583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51304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9" name="Shape 47"/>
          <p:cNvSpPr/>
          <p:nvPr/>
        </p:nvSpPr>
        <p:spPr>
          <a:xfrm>
            <a:off x="2215025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0" name="Shape 48"/>
          <p:cNvSpPr/>
          <p:nvPr/>
        </p:nvSpPr>
        <p:spPr>
          <a:xfrm>
            <a:off x="2296886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1" name="Shape 49"/>
          <p:cNvSpPr/>
          <p:nvPr/>
        </p:nvSpPr>
        <p:spPr>
          <a:xfrm>
            <a:off x="2378746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2" name="Shape 50"/>
          <p:cNvSpPr/>
          <p:nvPr/>
        </p:nvSpPr>
        <p:spPr>
          <a:xfrm>
            <a:off x="2542467" y="190064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3" name="Shape 51"/>
          <p:cNvSpPr/>
          <p:nvPr/>
        </p:nvSpPr>
        <p:spPr>
          <a:xfrm>
            <a:off x="905256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4" name="Shape 52"/>
          <p:cNvSpPr/>
          <p:nvPr/>
        </p:nvSpPr>
        <p:spPr>
          <a:xfrm>
            <a:off x="1068977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0838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6" name="Shape 54"/>
          <p:cNvSpPr/>
          <p:nvPr/>
        </p:nvSpPr>
        <p:spPr>
          <a:xfrm>
            <a:off x="1232698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7" name="Shape 55"/>
          <p:cNvSpPr/>
          <p:nvPr/>
        </p:nvSpPr>
        <p:spPr>
          <a:xfrm>
            <a:off x="1396419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8" name="Shape 56"/>
          <p:cNvSpPr/>
          <p:nvPr/>
        </p:nvSpPr>
        <p:spPr>
          <a:xfrm>
            <a:off x="1560141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9" name="Shape 57"/>
          <p:cNvSpPr/>
          <p:nvPr/>
        </p:nvSpPr>
        <p:spPr>
          <a:xfrm>
            <a:off x="1642001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0" name="Shape 58"/>
          <p:cNvSpPr/>
          <p:nvPr/>
        </p:nvSpPr>
        <p:spPr>
          <a:xfrm>
            <a:off x="1805722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1" name="Shape 59"/>
          <p:cNvSpPr/>
          <p:nvPr/>
        </p:nvSpPr>
        <p:spPr>
          <a:xfrm>
            <a:off x="2051304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15025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96886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4" name="Shape 62"/>
          <p:cNvSpPr/>
          <p:nvPr/>
        </p:nvSpPr>
        <p:spPr>
          <a:xfrm>
            <a:off x="2378746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5" name="Shape 63"/>
          <p:cNvSpPr/>
          <p:nvPr/>
        </p:nvSpPr>
        <p:spPr>
          <a:xfrm>
            <a:off x="2542467" y="1982506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6" name="Shape 64"/>
          <p:cNvSpPr/>
          <p:nvPr/>
        </p:nvSpPr>
        <p:spPr>
          <a:xfrm>
            <a:off x="905256" y="206436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7" name="Shape 65"/>
          <p:cNvSpPr/>
          <p:nvPr/>
        </p:nvSpPr>
        <p:spPr>
          <a:xfrm>
            <a:off x="1396419" y="206436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8" name="Shape 66"/>
          <p:cNvSpPr/>
          <p:nvPr/>
        </p:nvSpPr>
        <p:spPr>
          <a:xfrm>
            <a:off x="1723862" y="206436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9" name="Shape 67"/>
          <p:cNvSpPr/>
          <p:nvPr/>
        </p:nvSpPr>
        <p:spPr>
          <a:xfrm>
            <a:off x="1805722" y="206436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0" name="Shape 68"/>
          <p:cNvSpPr/>
          <p:nvPr/>
        </p:nvSpPr>
        <p:spPr>
          <a:xfrm>
            <a:off x="2051304" y="206436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1" name="Shape 69"/>
          <p:cNvSpPr/>
          <p:nvPr/>
        </p:nvSpPr>
        <p:spPr>
          <a:xfrm>
            <a:off x="2542467" y="206436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2" name="Shape 70"/>
          <p:cNvSpPr/>
          <p:nvPr/>
        </p:nvSpPr>
        <p:spPr>
          <a:xfrm>
            <a:off x="905256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3" name="Shape 71"/>
          <p:cNvSpPr/>
          <p:nvPr/>
        </p:nvSpPr>
        <p:spPr>
          <a:xfrm>
            <a:off x="987117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4" name="Shape 72"/>
          <p:cNvSpPr/>
          <p:nvPr/>
        </p:nvSpPr>
        <p:spPr>
          <a:xfrm>
            <a:off x="1068977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5" name="Shape 73"/>
          <p:cNvSpPr/>
          <p:nvPr/>
        </p:nvSpPr>
        <p:spPr>
          <a:xfrm>
            <a:off x="1150838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6" name="Shape 74"/>
          <p:cNvSpPr/>
          <p:nvPr/>
        </p:nvSpPr>
        <p:spPr>
          <a:xfrm>
            <a:off x="1232698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7" name="Shape 75"/>
          <p:cNvSpPr/>
          <p:nvPr/>
        </p:nvSpPr>
        <p:spPr>
          <a:xfrm>
            <a:off x="1314559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8" name="Shape 76"/>
          <p:cNvSpPr/>
          <p:nvPr/>
        </p:nvSpPr>
        <p:spPr>
          <a:xfrm>
            <a:off x="1396419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9" name="Shape 77"/>
          <p:cNvSpPr/>
          <p:nvPr/>
        </p:nvSpPr>
        <p:spPr>
          <a:xfrm>
            <a:off x="1560141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0" name="Shape 78"/>
          <p:cNvSpPr/>
          <p:nvPr/>
        </p:nvSpPr>
        <p:spPr>
          <a:xfrm>
            <a:off x="1723862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1" name="Shape 79"/>
          <p:cNvSpPr/>
          <p:nvPr/>
        </p:nvSpPr>
        <p:spPr>
          <a:xfrm>
            <a:off x="1887583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2" name="Shape 80"/>
          <p:cNvSpPr/>
          <p:nvPr/>
        </p:nvSpPr>
        <p:spPr>
          <a:xfrm>
            <a:off x="2051304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3" name="Shape 81"/>
          <p:cNvSpPr/>
          <p:nvPr/>
        </p:nvSpPr>
        <p:spPr>
          <a:xfrm>
            <a:off x="2133165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4" name="Shape 82"/>
          <p:cNvSpPr/>
          <p:nvPr/>
        </p:nvSpPr>
        <p:spPr>
          <a:xfrm>
            <a:off x="2215025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5" name="Shape 83"/>
          <p:cNvSpPr/>
          <p:nvPr/>
        </p:nvSpPr>
        <p:spPr>
          <a:xfrm>
            <a:off x="2296886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6" name="Shape 84"/>
          <p:cNvSpPr/>
          <p:nvPr/>
        </p:nvSpPr>
        <p:spPr>
          <a:xfrm>
            <a:off x="2378746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60607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8" name="Shape 86"/>
          <p:cNvSpPr/>
          <p:nvPr/>
        </p:nvSpPr>
        <p:spPr>
          <a:xfrm>
            <a:off x="2542467" y="2146227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9" name="Shape 87"/>
          <p:cNvSpPr/>
          <p:nvPr/>
        </p:nvSpPr>
        <p:spPr>
          <a:xfrm>
            <a:off x="1560141" y="2228088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0" name="Shape 88"/>
          <p:cNvSpPr/>
          <p:nvPr/>
        </p:nvSpPr>
        <p:spPr>
          <a:xfrm>
            <a:off x="1642001" y="2228088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1" name="Shape 89"/>
          <p:cNvSpPr/>
          <p:nvPr/>
        </p:nvSpPr>
        <p:spPr>
          <a:xfrm>
            <a:off x="905256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2" name="Shape 90"/>
          <p:cNvSpPr/>
          <p:nvPr/>
        </p:nvSpPr>
        <p:spPr>
          <a:xfrm>
            <a:off x="987117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3" name="Shape 91"/>
          <p:cNvSpPr/>
          <p:nvPr/>
        </p:nvSpPr>
        <p:spPr>
          <a:xfrm>
            <a:off x="1068977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4" name="Shape 92"/>
          <p:cNvSpPr/>
          <p:nvPr/>
        </p:nvSpPr>
        <p:spPr>
          <a:xfrm>
            <a:off x="1150838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5" name="Shape 93"/>
          <p:cNvSpPr/>
          <p:nvPr/>
        </p:nvSpPr>
        <p:spPr>
          <a:xfrm>
            <a:off x="1314559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6" name="Shape 94"/>
          <p:cNvSpPr/>
          <p:nvPr/>
        </p:nvSpPr>
        <p:spPr>
          <a:xfrm>
            <a:off x="1396419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7" name="Shape 95"/>
          <p:cNvSpPr/>
          <p:nvPr/>
        </p:nvSpPr>
        <p:spPr>
          <a:xfrm>
            <a:off x="1478280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8" name="Shape 96"/>
          <p:cNvSpPr/>
          <p:nvPr/>
        </p:nvSpPr>
        <p:spPr>
          <a:xfrm>
            <a:off x="1560141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9" name="Shape 97"/>
          <p:cNvSpPr/>
          <p:nvPr/>
        </p:nvSpPr>
        <p:spPr>
          <a:xfrm>
            <a:off x="1805722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0" name="Shape 98"/>
          <p:cNvSpPr/>
          <p:nvPr/>
        </p:nvSpPr>
        <p:spPr>
          <a:xfrm>
            <a:off x="1887583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133165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215025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96886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378746" y="230994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05256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50838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232698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314559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78280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560141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642001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805722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969443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051304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133165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215025" y="2391809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150838" y="247367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314559" y="247367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396419" y="247367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560141" y="247367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1642001" y="247367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723862" y="247367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1887583" y="247367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969443" y="247367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296886" y="247367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460607" y="247367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150838" y="255553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478280" y="255553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1723862" y="255553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887583" y="255553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133165" y="255553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215025" y="255553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460607" y="2555530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05256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87117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068977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150838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232698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396419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1478280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1642001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1805722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051304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296886" y="263739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642001" y="271925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1805722" y="271925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969443" y="271925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2215025" y="2719251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05256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7117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68977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150838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232698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314559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396419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560141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642001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723862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805722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887583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969443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2051304" y="2801112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905256" y="288297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396419" y="288297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560141" y="288297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642001" y="288297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2051304" y="288297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2542467" y="288297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5256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068977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150838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232698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1396419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560141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5" name="Shape 173"/>
          <p:cNvSpPr/>
          <p:nvPr/>
        </p:nvSpPr>
        <p:spPr>
          <a:xfrm>
            <a:off x="1805722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1887583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969443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8" name="Shape 176"/>
          <p:cNvSpPr/>
          <p:nvPr/>
        </p:nvSpPr>
        <p:spPr>
          <a:xfrm>
            <a:off x="2296886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9" name="Shape 177"/>
          <p:cNvSpPr/>
          <p:nvPr/>
        </p:nvSpPr>
        <p:spPr>
          <a:xfrm>
            <a:off x="2542467" y="2964833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0" name="Shape 178"/>
          <p:cNvSpPr/>
          <p:nvPr/>
        </p:nvSpPr>
        <p:spPr>
          <a:xfrm>
            <a:off x="905256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1068977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2" name="Shape 180"/>
          <p:cNvSpPr/>
          <p:nvPr/>
        </p:nvSpPr>
        <p:spPr>
          <a:xfrm>
            <a:off x="1150838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3" name="Shape 181"/>
          <p:cNvSpPr/>
          <p:nvPr/>
        </p:nvSpPr>
        <p:spPr>
          <a:xfrm>
            <a:off x="1232698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4" name="Shape 182"/>
          <p:cNvSpPr/>
          <p:nvPr/>
        </p:nvSpPr>
        <p:spPr>
          <a:xfrm>
            <a:off x="1396419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5" name="Shape 183"/>
          <p:cNvSpPr/>
          <p:nvPr/>
        </p:nvSpPr>
        <p:spPr>
          <a:xfrm>
            <a:off x="1642001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6" name="Shape 184"/>
          <p:cNvSpPr/>
          <p:nvPr/>
        </p:nvSpPr>
        <p:spPr>
          <a:xfrm>
            <a:off x="1887583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969443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8" name="Shape 186"/>
          <p:cNvSpPr/>
          <p:nvPr/>
        </p:nvSpPr>
        <p:spPr>
          <a:xfrm>
            <a:off x="2051304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9" name="Shape 187"/>
          <p:cNvSpPr/>
          <p:nvPr/>
        </p:nvSpPr>
        <p:spPr>
          <a:xfrm>
            <a:off x="2215025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0" name="Shape 188"/>
          <p:cNvSpPr/>
          <p:nvPr/>
        </p:nvSpPr>
        <p:spPr>
          <a:xfrm>
            <a:off x="2542467" y="304669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05256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1068977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3" name="Shape 191"/>
          <p:cNvSpPr/>
          <p:nvPr/>
        </p:nvSpPr>
        <p:spPr>
          <a:xfrm>
            <a:off x="1150838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4" name="Shape 192"/>
          <p:cNvSpPr/>
          <p:nvPr/>
        </p:nvSpPr>
        <p:spPr>
          <a:xfrm>
            <a:off x="1232698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396419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723862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805722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887583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969443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0" name="Shape 198"/>
          <p:cNvSpPr/>
          <p:nvPr/>
        </p:nvSpPr>
        <p:spPr>
          <a:xfrm>
            <a:off x="2133165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1" name="Shape 199"/>
          <p:cNvSpPr/>
          <p:nvPr/>
        </p:nvSpPr>
        <p:spPr>
          <a:xfrm>
            <a:off x="2215025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2" name="Shape 200"/>
          <p:cNvSpPr/>
          <p:nvPr/>
        </p:nvSpPr>
        <p:spPr>
          <a:xfrm>
            <a:off x="2460607" y="3128554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3" name="Shape 201"/>
          <p:cNvSpPr/>
          <p:nvPr/>
        </p:nvSpPr>
        <p:spPr>
          <a:xfrm>
            <a:off x="905256" y="321041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4" name="Shape 202"/>
          <p:cNvSpPr/>
          <p:nvPr/>
        </p:nvSpPr>
        <p:spPr>
          <a:xfrm>
            <a:off x="1396419" y="321041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5" name="Shape 203"/>
          <p:cNvSpPr/>
          <p:nvPr/>
        </p:nvSpPr>
        <p:spPr>
          <a:xfrm>
            <a:off x="1560141" y="321041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642001" y="321041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7" name="Shape 205"/>
          <p:cNvSpPr/>
          <p:nvPr/>
        </p:nvSpPr>
        <p:spPr>
          <a:xfrm>
            <a:off x="1805722" y="321041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8" name="Shape 206"/>
          <p:cNvSpPr/>
          <p:nvPr/>
        </p:nvSpPr>
        <p:spPr>
          <a:xfrm>
            <a:off x="1969443" y="321041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9" name="Shape 207"/>
          <p:cNvSpPr/>
          <p:nvPr/>
        </p:nvSpPr>
        <p:spPr>
          <a:xfrm>
            <a:off x="2215025" y="321041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2378746" y="321041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2460607" y="321041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905256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987117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1068977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150838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1232698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1314559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1396419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1642001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1969443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2460607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2542467" y="3292275"/>
            <a:ext cx="81861" cy="81861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905256" y="3182112"/>
            <a:ext cx="672998" cy="237744"/>
          </a:xfrm>
          <a:prstGeom prst="roundRect">
            <a:avLst>
              <a:gd name="adj" fmla="val 19231"/>
            </a:avLst>
          </a:prstGeom>
          <a:solidFill>
            <a:srgbClr val="FFC663"/>
          </a:solidFill>
          <a:ln/>
        </p:spPr>
      </p:sp>
      <p:sp>
        <p:nvSpPr>
          <p:cNvPr id="224" name="Text 222"/>
          <p:cNvSpPr/>
          <p:nvPr/>
        </p:nvSpPr>
        <p:spPr>
          <a:xfrm>
            <a:off x="905256" y="3182112"/>
            <a:ext cx="6729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01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2926080" y="160020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open the Moodle workshop</a:t>
            </a:r>
            <a:endParaRPr lang="en-US" sz="1500" dirty="0"/>
          </a:p>
        </p:txBody>
      </p:sp>
      <p:sp>
        <p:nvSpPr>
          <p:cNvPr id="226" name="Shape 224"/>
          <p:cNvSpPr/>
          <p:nvPr/>
        </p:nvSpPr>
        <p:spPr>
          <a:xfrm>
            <a:off x="2926080" y="2286000"/>
            <a:ext cx="974750" cy="237744"/>
          </a:xfrm>
          <a:prstGeom prst="roundRect">
            <a:avLst>
              <a:gd name="adj" fmla="val 19231"/>
            </a:avLst>
          </a:prstGeom>
          <a:solidFill>
            <a:srgbClr val="FFC663"/>
          </a:solidFill>
          <a:ln/>
        </p:spPr>
      </p:sp>
      <p:sp>
        <p:nvSpPr>
          <p:cNvPr id="227" name="Text 225"/>
          <p:cNvSpPr/>
          <p:nvPr/>
        </p:nvSpPr>
        <p:spPr>
          <a:xfrm>
            <a:off x="2926080" y="2286000"/>
            <a:ext cx="9747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01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</a:t>
            </a:r>
            <a:endParaRPr lang="en-US" sz="850" dirty="0"/>
          </a:p>
        </p:txBody>
      </p:sp>
      <p:sp>
        <p:nvSpPr>
          <p:cNvPr id="228" name="Text 226"/>
          <p:cNvSpPr/>
          <p:nvPr/>
        </p:nvSpPr>
        <p:spPr>
          <a:xfrm>
            <a:off x="2926080" y="2697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https://moodle.example.com/hmf-clinic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swap in the real workshop QR &amp; link</a:t>
            </a:r>
            <a:endParaRPr lang="en-US" sz="1150" dirty="0"/>
          </a:p>
        </p:txBody>
      </p:sp>
      <p:sp>
        <p:nvSpPr>
          <p:cNvPr id="229" name="Shape 227"/>
          <p:cNvSpPr/>
          <p:nvPr/>
        </p:nvSpPr>
        <p:spPr>
          <a:xfrm>
            <a:off x="6245352" y="1280160"/>
            <a:ext cx="5394960" cy="2468880"/>
          </a:xfrm>
          <a:prstGeom prst="roundRect">
            <a:avLst>
              <a:gd name="adj" fmla="val 5185"/>
            </a:avLst>
          </a:prstGeom>
          <a:solidFill>
            <a:srgbClr val="241B0C"/>
          </a:solidFill>
          <a:ln w="15875">
            <a:solidFill>
              <a:srgbClr val="7A5410"/>
            </a:solidFill>
            <a:prstDash val="dash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30" name="Shape 228"/>
          <p:cNvSpPr/>
          <p:nvPr/>
        </p:nvSpPr>
        <p:spPr>
          <a:xfrm>
            <a:off x="6519672" y="1572768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3A2A0C"/>
          </a:solidFill>
          <a:ln w="12700">
            <a:solidFill>
              <a:srgbClr val="F0A22E"/>
            </a:solidFill>
            <a:prstDash val="solid"/>
          </a:ln>
        </p:spPr>
      </p:sp>
      <p:sp>
        <p:nvSpPr>
          <p:cNvPr id="231" name="Text 229"/>
          <p:cNvSpPr/>
          <p:nvPr/>
        </p:nvSpPr>
        <p:spPr>
          <a:xfrm>
            <a:off x="6519672" y="157276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3000" dirty="0"/>
          </a:p>
        </p:txBody>
      </p:sp>
      <p:sp>
        <p:nvSpPr>
          <p:cNvPr id="232" name="Text 230"/>
          <p:cNvSpPr/>
          <p:nvPr/>
        </p:nvSpPr>
        <p:spPr>
          <a:xfrm>
            <a:off x="7589520" y="16276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Image Convertor</a:t>
            </a:r>
            <a:endParaRPr lang="en-US" sz="1700" dirty="0"/>
          </a:p>
        </p:txBody>
      </p:sp>
      <p:sp>
        <p:nvSpPr>
          <p:cNvPr id="233" name="Shape 231"/>
          <p:cNvSpPr/>
          <p:nvPr/>
        </p:nvSpPr>
        <p:spPr>
          <a:xfrm>
            <a:off x="7589520" y="2121408"/>
            <a:ext cx="974750" cy="237744"/>
          </a:xfrm>
          <a:prstGeom prst="roundRect">
            <a:avLst>
              <a:gd name="adj" fmla="val 19231"/>
            </a:avLst>
          </a:prstGeom>
          <a:solidFill>
            <a:srgbClr val="FFC663"/>
          </a:solidFill>
          <a:ln/>
        </p:spPr>
      </p:sp>
      <p:sp>
        <p:nvSpPr>
          <p:cNvPr id="234" name="Text 232"/>
          <p:cNvSpPr/>
          <p:nvPr/>
        </p:nvSpPr>
        <p:spPr>
          <a:xfrm>
            <a:off x="7589520" y="2121408"/>
            <a:ext cx="9747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01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</a:t>
            </a:r>
            <a:endParaRPr lang="en-US" sz="850" dirty="0"/>
          </a:p>
        </p:txBody>
      </p:sp>
      <p:sp>
        <p:nvSpPr>
          <p:cNvPr id="235" name="Text 233"/>
          <p:cNvSpPr/>
          <p:nvPr/>
        </p:nvSpPr>
        <p:spPr>
          <a:xfrm>
            <a:off x="6519672" y="2651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https://circuit-convertor.example.com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of flipchart → topology diagram</a:t>
            </a:r>
            <a:endParaRPr lang="en-US" sz="1200" dirty="0"/>
          </a:p>
        </p:txBody>
      </p:sp>
      <p:sp>
        <p:nvSpPr>
          <p:cNvPr id="236" name="Shape 234"/>
          <p:cNvSpPr/>
          <p:nvPr/>
        </p:nvSpPr>
        <p:spPr>
          <a:xfrm>
            <a:off x="548640" y="4114800"/>
            <a:ext cx="1532534" cy="457200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594360" y="4114800"/>
            <a:ext cx="14410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 total</a:t>
            </a:r>
            <a:endParaRPr lang="en-US" sz="1150" dirty="0"/>
          </a:p>
        </p:txBody>
      </p:sp>
      <p:sp>
        <p:nvSpPr>
          <p:cNvPr id="238" name="Shape 236"/>
          <p:cNvSpPr/>
          <p:nvPr/>
        </p:nvSpPr>
        <p:spPr>
          <a:xfrm>
            <a:off x="2282342" y="4114800"/>
            <a:ext cx="1622146" cy="457200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2328062" y="4114800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per group</a:t>
            </a:r>
            <a:endParaRPr lang="en-US" sz="1150" dirty="0"/>
          </a:p>
        </p:txBody>
      </p:sp>
      <p:sp>
        <p:nvSpPr>
          <p:cNvPr id="240" name="Shape 238"/>
          <p:cNvSpPr/>
          <p:nvPr/>
        </p:nvSpPr>
        <p:spPr>
          <a:xfrm>
            <a:off x="4105656" y="4114800"/>
            <a:ext cx="1711757" cy="457200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4151376" y="4114800"/>
            <a:ext cx="16203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case studies</a:t>
            </a:r>
            <a:endParaRPr lang="en-US" sz="1150" dirty="0"/>
          </a:p>
        </p:txBody>
      </p:sp>
      <p:sp>
        <p:nvSpPr>
          <p:cNvPr id="242" name="Shape 240"/>
          <p:cNvSpPr/>
          <p:nvPr/>
        </p:nvSpPr>
        <p:spPr>
          <a:xfrm>
            <a:off x="6018581" y="4114800"/>
            <a:ext cx="3145536" cy="457200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6064301" y="411480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submitted individually</a:t>
            </a:r>
            <a:endParaRPr lang="en-US" sz="1150" dirty="0"/>
          </a:p>
        </p:txBody>
      </p:sp>
      <p:sp>
        <p:nvSpPr>
          <p:cNvPr id="244" name="Shape 242"/>
          <p:cNvSpPr/>
          <p:nvPr/>
        </p:nvSpPr>
        <p:spPr>
          <a:xfrm>
            <a:off x="548640" y="4718304"/>
            <a:ext cx="3503981" cy="457200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45" name="Text 243"/>
          <p:cNvSpPr/>
          <p:nvPr/>
        </p:nvSpPr>
        <p:spPr>
          <a:xfrm>
            <a:off x="594360" y="4718304"/>
            <a:ext cx="34125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Image Convertor → topology</a:t>
            </a:r>
            <a:endParaRPr lang="en-US" sz="1150" dirty="0"/>
          </a:p>
        </p:txBody>
      </p:sp>
      <p:sp>
        <p:nvSpPr>
          <p:cNvPr id="246" name="Shape 244"/>
          <p:cNvSpPr/>
          <p:nvPr/>
        </p:nvSpPr>
        <p:spPr>
          <a:xfrm>
            <a:off x="4253789" y="4718304"/>
            <a:ext cx="3145536" cy="457200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4299509" y="471830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uploaded individually</a:t>
            </a:r>
            <a:endParaRPr lang="en-US" sz="1150" dirty="0"/>
          </a:p>
        </p:txBody>
      </p:sp>
      <p:sp>
        <p:nvSpPr>
          <p:cNvPr id="248" name="Shape 246"/>
          <p:cNvSpPr/>
          <p:nvPr/>
        </p:nvSpPr>
        <p:spPr>
          <a:xfrm>
            <a:off x="7600493" y="4718304"/>
            <a:ext cx="2876702" cy="457200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7646213" y="4718304"/>
            <a:ext cx="27852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Moodle scores automatically</a:t>
            </a:r>
            <a:endParaRPr lang="en-US" sz="1150" dirty="0"/>
          </a:p>
        </p:txBody>
      </p:sp>
      <p:sp>
        <p:nvSpPr>
          <p:cNvPr id="250" name="Text 248"/>
          <p:cNvSpPr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Secure · HMF Design Clinic — internal SME enablement. Cedarline Health Group is a fictional customer. The QR code and tool links are placeholders — replace before the live session.</a:t>
            </a:r>
            <a:endParaRPr lang="en-US" sz="1050" dirty="0"/>
          </a:p>
        </p:txBody>
      </p:sp>
      <p:sp>
        <p:nvSpPr>
          <p:cNvPr id="251" name="Shape 249"/>
          <p:cNvSpPr/>
          <p:nvPr/>
        </p:nvSpPr>
        <p:spPr>
          <a:xfrm>
            <a:off x="548640" y="561685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73512" y="559734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98383" y="557296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23255" y="554370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48127" y="551931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72998" y="550468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97870" y="551931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8" name="Shape 256"/>
          <p:cNvSpPr/>
          <p:nvPr/>
        </p:nvSpPr>
        <p:spPr>
          <a:xfrm>
            <a:off x="722742" y="554370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9" name="Shape 257"/>
          <p:cNvSpPr/>
          <p:nvPr/>
        </p:nvSpPr>
        <p:spPr>
          <a:xfrm>
            <a:off x="747613" y="557296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60" name="Shape 258"/>
          <p:cNvSpPr/>
          <p:nvPr/>
        </p:nvSpPr>
        <p:spPr>
          <a:xfrm>
            <a:off x="772485" y="559734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97357" y="561685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62" name="Text 260"/>
          <p:cNvSpPr/>
          <p:nvPr/>
        </p:nvSpPr>
        <p:spPr>
          <a:xfrm>
            <a:off x="863194" y="54315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263" name="Text 261"/>
          <p:cNvSpPr/>
          <p:nvPr/>
        </p:nvSpPr>
        <p:spPr>
          <a:xfrm>
            <a:off x="1139342" y="543153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Cisco Secure — HMF Design Clinic</dc:creator>
  <cp:lastModifiedBy>Cisco Secure — HMF Design Clinic</cp:lastModifiedBy>
  <cp:revision>1</cp:revision>
  <dcterms:created xsi:type="dcterms:W3CDTF">2026-08-19T13:28:28Z</dcterms:created>
  <dcterms:modified xsi:type="dcterms:W3CDTF">2026-08-19T13:28:28Z</dcterms:modified>
</cp:coreProperties>
</file>